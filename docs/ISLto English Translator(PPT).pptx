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Lora Medium"/>
      <p:regular r:id="rId30"/>
      <p:bold r:id="rId31"/>
      <p:italic r:id="rId32"/>
      <p:boldItalic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133B04-50F3-4802-8D44-71D4AB3A8477}">
  <a:tblStyle styleId="{27133B04-50F3-4802-8D44-71D4AB3A847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oraMedium-bold.fntdata"/><Relationship Id="rId30" Type="http://schemas.openxmlformats.org/officeDocument/2006/relationships/font" Target="fonts/LoraMedium-regular.fntdata"/><Relationship Id="rId11" Type="http://schemas.openxmlformats.org/officeDocument/2006/relationships/slide" Target="slides/slide5.xml"/><Relationship Id="rId33" Type="http://schemas.openxmlformats.org/officeDocument/2006/relationships/font" Target="fonts/LoraMedium-boldItalic.fntdata"/><Relationship Id="rId10" Type="http://schemas.openxmlformats.org/officeDocument/2006/relationships/slide" Target="slides/slide4.xml"/><Relationship Id="rId32" Type="http://schemas.openxmlformats.org/officeDocument/2006/relationships/font" Target="fonts/LoraMedium-italic.fntdata"/><Relationship Id="rId13" Type="http://schemas.openxmlformats.org/officeDocument/2006/relationships/slide" Target="slides/slide7.xml"/><Relationship Id="rId35" Type="http://schemas.openxmlformats.org/officeDocument/2006/relationships/font" Target="fonts/RobotoMono-bold.fntdata"/><Relationship Id="rId12" Type="http://schemas.openxmlformats.org/officeDocument/2006/relationships/slide" Target="slides/slide6.xml"/><Relationship Id="rId34" Type="http://schemas.openxmlformats.org/officeDocument/2006/relationships/font" Target="fonts/RobotoMono-regular.fntdata"/><Relationship Id="rId15" Type="http://schemas.openxmlformats.org/officeDocument/2006/relationships/slide" Target="slides/slide9.xml"/><Relationship Id="rId37" Type="http://schemas.openxmlformats.org/officeDocument/2006/relationships/font" Target="fonts/RobotoMono-boldItalic.fntdata"/><Relationship Id="rId14" Type="http://schemas.openxmlformats.org/officeDocument/2006/relationships/slide" Target="slides/slide8.xml"/><Relationship Id="rId36" Type="http://schemas.openxmlformats.org/officeDocument/2006/relationships/font" Target="fonts/RobotoMon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8ac1e31b49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8ac1e31b49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ac1e31b49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ac1e31b49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ac1e31b49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ac1e31b49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ac1e31b49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ac1e31b49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ac1e31b49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ac1e31b49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fad7492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fad7492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fb86d7a8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fb86d7a8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fb86d7a8f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fb86d7a8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fb86d7a8f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fb86d7a8f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fb86d7a8f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fb86d7a8f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fc6a713d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fc6a713d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ac1e31b49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ac1e31b49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fc6a713d4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fc6a713d4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fc6a713d4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fc6a713d4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fc6a713d4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fc6a713d4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fc6a713d4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fc6a713d4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fc6a713d4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fc6a713d4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fc6a713d4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fc6a713d4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fc6a713d4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fc6a713d4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fc6a713d4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fc6a713d4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ac1e31b49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ac1e31b49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fc6a713d4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fc6a713d4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aea296b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aea296b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76950" y="1227975"/>
            <a:ext cx="8682000" cy="1343700"/>
          </a:xfrm>
          <a:prstGeom prst="rect">
            <a:avLst/>
          </a:prstGeom>
        </p:spPr>
        <p:txBody>
          <a:bodyPr anchorCtr="0" anchor="t" bIns="91425" lIns="91425" spcFirstLastPara="1" rIns="91425" wrap="square" tIns="91425">
            <a:normAutofit fontScale="90000"/>
          </a:bodyPr>
          <a:lstStyle/>
          <a:p>
            <a:pPr indent="0" lvl="0" marL="0" rtl="0" algn="ctr">
              <a:lnSpc>
                <a:spcPct val="150000"/>
              </a:lnSpc>
              <a:spcBef>
                <a:spcPts val="0"/>
              </a:spcBef>
              <a:spcAft>
                <a:spcPts val="0"/>
              </a:spcAft>
              <a:buNone/>
            </a:pPr>
            <a:r>
              <a:rPr lang="en-GB"/>
              <a:t>SCET-MITWPU</a:t>
            </a:r>
            <a:endParaRPr/>
          </a:p>
          <a:p>
            <a:pPr indent="0" lvl="0" marL="0" rtl="0" algn="ctr">
              <a:lnSpc>
                <a:spcPct val="100000"/>
              </a:lnSpc>
              <a:spcBef>
                <a:spcPts val="0"/>
              </a:spcBef>
              <a:spcAft>
                <a:spcPts val="0"/>
              </a:spcAft>
              <a:buNone/>
            </a:pPr>
            <a:r>
              <a:rPr lang="en-GB" sz="1800"/>
              <a:t>Project title- Real-Time Indian Sign Language (ISL) to English Translator using Pose Sequence Recognition and Transformer Architecture </a:t>
            </a:r>
            <a:endParaRPr sz="1800"/>
          </a:p>
          <a:p>
            <a:pPr indent="0" lvl="0" marL="0" rtl="0" algn="ctr">
              <a:lnSpc>
                <a:spcPct val="100000"/>
              </a:lnSpc>
              <a:spcBef>
                <a:spcPts val="0"/>
              </a:spcBef>
              <a:spcAft>
                <a:spcPts val="0"/>
              </a:spcAft>
              <a:buNone/>
            </a:pPr>
            <a:r>
              <a:rPr lang="en-GB" sz="1800"/>
              <a:t>In-House Project</a:t>
            </a:r>
            <a:endParaRPr sz="1800"/>
          </a:p>
          <a:p>
            <a:pPr indent="0" lvl="0" marL="0" rtl="0" algn="ctr">
              <a:lnSpc>
                <a:spcPct val="150000"/>
              </a:lnSpc>
              <a:spcBef>
                <a:spcPts val="0"/>
              </a:spcBef>
              <a:spcAft>
                <a:spcPts val="0"/>
              </a:spcAft>
              <a:buNone/>
            </a:pPr>
            <a:r>
              <a:t/>
            </a:r>
            <a:endParaRPr sz="1800"/>
          </a:p>
        </p:txBody>
      </p:sp>
      <p:sp>
        <p:nvSpPr>
          <p:cNvPr id="55" name="Google Shape;55;p13"/>
          <p:cNvSpPr txBox="1"/>
          <p:nvPr>
            <p:ph idx="1" type="body"/>
          </p:nvPr>
        </p:nvSpPr>
        <p:spPr>
          <a:xfrm>
            <a:off x="984000" y="2920600"/>
            <a:ext cx="7467900" cy="2157600"/>
          </a:xfrm>
          <a:prstGeom prst="rect">
            <a:avLst/>
          </a:prstGeom>
        </p:spPr>
        <p:txBody>
          <a:bodyPr anchorCtr="0" anchor="t" bIns="91425" lIns="91425" spcFirstLastPara="1" rIns="91425" wrap="square" tIns="91425">
            <a:normAutofit/>
          </a:bodyPr>
          <a:lstStyle/>
          <a:p>
            <a:pPr indent="0" lvl="0" marL="0" rtl="0" algn="ctr">
              <a:lnSpc>
                <a:spcPct val="50000"/>
              </a:lnSpc>
              <a:spcBef>
                <a:spcPts val="0"/>
              </a:spcBef>
              <a:spcAft>
                <a:spcPts val="0"/>
              </a:spcAft>
              <a:buNone/>
            </a:pPr>
            <a:r>
              <a:rPr lang="en-GB">
                <a:solidFill>
                  <a:schemeClr val="dk1"/>
                </a:solidFill>
              </a:rPr>
              <a:t>Presented By-</a:t>
            </a:r>
            <a:endParaRPr>
              <a:solidFill>
                <a:schemeClr val="dk1"/>
              </a:solidFill>
            </a:endParaRPr>
          </a:p>
          <a:p>
            <a:pPr indent="0" lvl="0" marL="0" rtl="0" algn="ctr">
              <a:lnSpc>
                <a:spcPct val="50000"/>
              </a:lnSpc>
              <a:spcBef>
                <a:spcPts val="1200"/>
              </a:spcBef>
              <a:spcAft>
                <a:spcPts val="0"/>
              </a:spcAft>
              <a:buNone/>
            </a:pPr>
            <a:r>
              <a:rPr lang="en-GB">
                <a:solidFill>
                  <a:schemeClr val="dk1"/>
                </a:solidFill>
              </a:rPr>
              <a:t>Daksha Agarwal (1032212275)</a:t>
            </a:r>
            <a:endParaRPr>
              <a:solidFill>
                <a:schemeClr val="dk1"/>
              </a:solidFill>
            </a:endParaRPr>
          </a:p>
          <a:p>
            <a:pPr indent="0" lvl="0" marL="0" rtl="0" algn="ctr">
              <a:lnSpc>
                <a:spcPct val="50000"/>
              </a:lnSpc>
              <a:spcBef>
                <a:spcPts val="1200"/>
              </a:spcBef>
              <a:spcAft>
                <a:spcPts val="0"/>
              </a:spcAft>
              <a:buNone/>
            </a:pPr>
            <a:r>
              <a:rPr lang="en-GB">
                <a:solidFill>
                  <a:schemeClr val="dk1"/>
                </a:solidFill>
              </a:rPr>
              <a:t>Dhairya Hindoriya (1032210405)</a:t>
            </a:r>
            <a:endParaRPr>
              <a:solidFill>
                <a:schemeClr val="dk1"/>
              </a:solidFill>
            </a:endParaRPr>
          </a:p>
          <a:p>
            <a:pPr indent="0" lvl="0" marL="0" rtl="0" algn="ctr">
              <a:lnSpc>
                <a:spcPct val="50000"/>
              </a:lnSpc>
              <a:spcBef>
                <a:spcPts val="1200"/>
              </a:spcBef>
              <a:spcAft>
                <a:spcPts val="0"/>
              </a:spcAft>
              <a:buNone/>
            </a:pPr>
            <a:r>
              <a:rPr lang="en-GB">
                <a:solidFill>
                  <a:schemeClr val="dk1"/>
                </a:solidFill>
              </a:rPr>
              <a:t>Om Taur (1032212182)</a:t>
            </a:r>
            <a:endParaRPr>
              <a:solidFill>
                <a:schemeClr val="dk1"/>
              </a:solidFill>
            </a:endParaRPr>
          </a:p>
          <a:p>
            <a:pPr indent="0" lvl="0" marL="0" rtl="0" algn="ctr">
              <a:lnSpc>
                <a:spcPct val="50000"/>
              </a:lnSpc>
              <a:spcBef>
                <a:spcPts val="1200"/>
              </a:spcBef>
              <a:spcAft>
                <a:spcPts val="0"/>
              </a:spcAft>
              <a:buNone/>
            </a:pPr>
            <a:r>
              <a:rPr lang="en-GB">
                <a:solidFill>
                  <a:schemeClr val="dk1"/>
                </a:solidFill>
              </a:rPr>
              <a:t>Anish Wadkar (1032212178)</a:t>
            </a:r>
            <a:endParaRPr>
              <a:solidFill>
                <a:schemeClr val="dk1"/>
              </a:solidFill>
            </a:endParaRPr>
          </a:p>
          <a:p>
            <a:pPr indent="0" lvl="0" marL="0" rtl="0" algn="ctr">
              <a:lnSpc>
                <a:spcPct val="50000"/>
              </a:lnSpc>
              <a:spcBef>
                <a:spcPts val="1200"/>
              </a:spcBef>
              <a:spcAft>
                <a:spcPts val="0"/>
              </a:spcAft>
              <a:buNone/>
            </a:pPr>
            <a:r>
              <a:t/>
            </a:r>
            <a:endParaRPr>
              <a:solidFill>
                <a:schemeClr val="dk1"/>
              </a:solidFill>
            </a:endParaRPr>
          </a:p>
          <a:p>
            <a:pPr indent="0" lvl="0" marL="0" rtl="0" algn="ctr">
              <a:lnSpc>
                <a:spcPct val="50000"/>
              </a:lnSpc>
              <a:spcBef>
                <a:spcPts val="1200"/>
              </a:spcBef>
              <a:spcAft>
                <a:spcPts val="1200"/>
              </a:spcAft>
              <a:buNone/>
            </a:pPr>
            <a:r>
              <a:rPr lang="en-GB">
                <a:solidFill>
                  <a:schemeClr val="dk1"/>
                </a:solidFill>
              </a:rPr>
              <a:t>Under the guidance of Professor Rashmi Ashtagi Ma’am</a:t>
            </a:r>
            <a:endParaRPr>
              <a:solidFill>
                <a:schemeClr val="dk1"/>
              </a:solidFill>
            </a:endParaRPr>
          </a:p>
        </p:txBody>
      </p:sp>
      <p:pic>
        <p:nvPicPr>
          <p:cNvPr id="56" name="Google Shape;56;p13"/>
          <p:cNvPicPr preferRelativeResize="0"/>
          <p:nvPr/>
        </p:nvPicPr>
        <p:blipFill>
          <a:blip r:embed="rId3">
            <a:alphaModFix/>
          </a:blip>
          <a:stretch>
            <a:fillRect/>
          </a:stretch>
        </p:blipFill>
        <p:spPr>
          <a:xfrm>
            <a:off x="3174175" y="301100"/>
            <a:ext cx="2795650" cy="803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431700" y="0"/>
            <a:ext cx="7939800" cy="46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GB" sz="2020"/>
              <a:t>Literature Survey</a:t>
            </a:r>
            <a:endParaRPr sz="2020"/>
          </a:p>
        </p:txBody>
      </p:sp>
      <p:graphicFrame>
        <p:nvGraphicFramePr>
          <p:cNvPr id="62" name="Google Shape;62;p14"/>
          <p:cNvGraphicFramePr/>
          <p:nvPr/>
        </p:nvGraphicFramePr>
        <p:xfrm>
          <a:off x="202575" y="528000"/>
          <a:ext cx="3000000" cy="3000000"/>
        </p:xfrm>
        <a:graphic>
          <a:graphicData uri="http://schemas.openxmlformats.org/drawingml/2006/table">
            <a:tbl>
              <a:tblPr>
                <a:noFill/>
                <a:tableStyleId>{27133B04-50F3-4802-8D44-71D4AB3A8477}</a:tableStyleId>
              </a:tblPr>
              <a:tblGrid>
                <a:gridCol w="993475"/>
                <a:gridCol w="2250125"/>
                <a:gridCol w="1381725"/>
                <a:gridCol w="1861825"/>
                <a:gridCol w="2014475"/>
              </a:tblGrid>
              <a:tr h="572450">
                <a:tc>
                  <a:txBody>
                    <a:bodyPr/>
                    <a:lstStyle/>
                    <a:p>
                      <a:pPr indent="0" lvl="0" marL="0" rtl="0" algn="ctr">
                        <a:spcBef>
                          <a:spcPts val="0"/>
                        </a:spcBef>
                        <a:spcAft>
                          <a:spcPts val="0"/>
                        </a:spcAft>
                        <a:buNone/>
                      </a:pPr>
                      <a:r>
                        <a:rPr lang="en-GB"/>
                        <a:t>  Sr no</a:t>
                      </a:r>
                      <a:endParaRPr/>
                    </a:p>
                  </a:txBody>
                  <a:tcPr marT="91425" marB="91425" marR="91425" marL="91425"/>
                </a:tc>
                <a:tc>
                  <a:txBody>
                    <a:bodyPr/>
                    <a:lstStyle/>
                    <a:p>
                      <a:pPr indent="0" lvl="0" marL="0" rtl="0" algn="ctr">
                        <a:spcBef>
                          <a:spcPts val="0"/>
                        </a:spcBef>
                        <a:spcAft>
                          <a:spcPts val="0"/>
                        </a:spcAft>
                        <a:buNone/>
                      </a:pPr>
                      <a:r>
                        <a:rPr lang="en-GB"/>
                        <a:t>Publication Title</a:t>
                      </a:r>
                      <a:endParaRPr/>
                    </a:p>
                  </a:txBody>
                  <a:tcPr marT="91425" marB="91425" marR="91425" marL="91425"/>
                </a:tc>
                <a:tc>
                  <a:txBody>
                    <a:bodyPr/>
                    <a:lstStyle/>
                    <a:p>
                      <a:pPr indent="0" lvl="0" marL="0" rtl="0" algn="l">
                        <a:spcBef>
                          <a:spcPts val="0"/>
                        </a:spcBef>
                        <a:spcAft>
                          <a:spcPts val="0"/>
                        </a:spcAft>
                        <a:buNone/>
                      </a:pPr>
                      <a:r>
                        <a:rPr lang="en-GB"/>
                        <a:t>Publication year</a:t>
                      </a:r>
                      <a:endParaRPr/>
                    </a:p>
                  </a:txBody>
                  <a:tcPr marT="91425" marB="91425" marR="91425" marL="91425"/>
                </a:tc>
                <a:tc>
                  <a:txBody>
                    <a:bodyPr/>
                    <a:lstStyle/>
                    <a:p>
                      <a:pPr indent="0" lvl="0" marL="0" rtl="0" algn="l">
                        <a:spcBef>
                          <a:spcPts val="0"/>
                        </a:spcBef>
                        <a:spcAft>
                          <a:spcPts val="0"/>
                        </a:spcAft>
                        <a:buNone/>
                      </a:pPr>
                      <a:r>
                        <a:rPr lang="en-GB"/>
                        <a:t>Positive points of the publication</a:t>
                      </a:r>
                      <a:endParaRPr/>
                    </a:p>
                  </a:txBody>
                  <a:tcPr marT="91425" marB="91425" marR="91425" marL="91425"/>
                </a:tc>
                <a:tc>
                  <a:txBody>
                    <a:bodyPr/>
                    <a:lstStyle/>
                    <a:p>
                      <a:pPr indent="0" lvl="0" marL="0" rtl="0" algn="l">
                        <a:spcBef>
                          <a:spcPts val="0"/>
                        </a:spcBef>
                        <a:spcAft>
                          <a:spcPts val="0"/>
                        </a:spcAft>
                        <a:buNone/>
                      </a:pPr>
                      <a:r>
                        <a:rPr lang="en-GB"/>
                        <a:t>Gaps in publication work</a:t>
                      </a:r>
                      <a:endParaRPr/>
                    </a:p>
                  </a:txBody>
                  <a:tcPr marT="91425" marB="91425" marR="91425" marL="91425"/>
                </a:tc>
              </a:tr>
              <a:tr h="1114525">
                <a:tc>
                  <a:txBody>
                    <a:bodyPr/>
                    <a:lstStyle/>
                    <a:p>
                      <a:pPr indent="0" lvl="0" marL="0" rtl="0" algn="l">
                        <a:spcBef>
                          <a:spcPts val="0"/>
                        </a:spcBef>
                        <a:spcAft>
                          <a:spcPts val="0"/>
                        </a:spcAft>
                        <a:buNone/>
                      </a:pPr>
                      <a:r>
                        <a:rPr lang="en-GB"/>
                        <a:t>1</a:t>
                      </a:r>
                      <a:endParaRPr/>
                    </a:p>
                  </a:txBody>
                  <a:tcPr marT="91425" marB="91425" marR="91425" marL="91425"/>
                </a:tc>
                <a:tc>
                  <a:txBody>
                    <a:bodyPr/>
                    <a:lstStyle/>
                    <a:p>
                      <a:pPr indent="0" lvl="0" marL="0" rtl="0" algn="l">
                        <a:spcBef>
                          <a:spcPts val="0"/>
                        </a:spcBef>
                        <a:spcAft>
                          <a:spcPts val="0"/>
                        </a:spcAft>
                        <a:buNone/>
                      </a:pPr>
                      <a:r>
                        <a:rPr i="1" lang="en-GB" sz="1100">
                          <a:solidFill>
                            <a:schemeClr val="dk1"/>
                          </a:solidFill>
                        </a:rPr>
                        <a:t>“Real-Time Indian Sign Language Recognition Using Deep Learning”</a:t>
                      </a:r>
                      <a:r>
                        <a:rPr lang="en-GB" sz="1100">
                          <a:solidFill>
                            <a:schemeClr val="dk1"/>
                          </a:solidFill>
                        </a:rPr>
                        <a:t> – Sharma et al. (Journal: IEEE Access)</a:t>
                      </a:r>
                      <a:endParaRPr/>
                    </a:p>
                  </a:txBody>
                  <a:tcPr marT="91425" marB="91425" marR="91425" marL="91425"/>
                </a:tc>
                <a:tc>
                  <a:txBody>
                    <a:bodyPr/>
                    <a:lstStyle/>
                    <a:p>
                      <a:pPr indent="0" lvl="0" marL="0" rtl="0" algn="ctr">
                        <a:spcBef>
                          <a:spcPts val="0"/>
                        </a:spcBef>
                        <a:spcAft>
                          <a:spcPts val="0"/>
                        </a:spcAft>
                        <a:buNone/>
                      </a:pPr>
                      <a:r>
                        <a:rPr lang="en-GB" sz="1200"/>
                        <a:t>2021</a:t>
                      </a:r>
                      <a:endParaRPr sz="1200"/>
                    </a:p>
                  </a:txBody>
                  <a:tcPr marT="91425" marB="91425" marR="91425" marL="91425"/>
                </a:tc>
                <a:tc>
                  <a:txBody>
                    <a:bodyPr/>
                    <a:lstStyle/>
                    <a:p>
                      <a:pPr indent="0" lvl="0" marL="0" rtl="0" algn="l">
                        <a:spcBef>
                          <a:spcPts val="0"/>
                        </a:spcBef>
                        <a:spcAft>
                          <a:spcPts val="0"/>
                        </a:spcAft>
                        <a:buNone/>
                      </a:pPr>
                      <a:r>
                        <a:rPr lang="en-GB" sz="1200"/>
                        <a:t>Used CNN and LSTM for dynamic gesture recognition; achieved high accuracy for continuous signs.</a:t>
                      </a:r>
                      <a:endParaRPr sz="1200"/>
                    </a:p>
                  </a:txBody>
                  <a:tcPr marT="91425" marB="91425" marR="91425" marL="91425"/>
                </a:tc>
                <a:tc>
                  <a:txBody>
                    <a:bodyPr/>
                    <a:lstStyle/>
                    <a:p>
                      <a:pPr indent="0" lvl="0" marL="0" rtl="0" algn="l">
                        <a:spcBef>
                          <a:spcPts val="0"/>
                        </a:spcBef>
                        <a:spcAft>
                          <a:spcPts val="0"/>
                        </a:spcAft>
                        <a:buNone/>
                      </a:pPr>
                      <a:r>
                        <a:rPr lang="en-GB" sz="1200"/>
                        <a:t>Limited vocabulary; lacks real-time sentence-level translation and contextual understanding.</a:t>
                      </a:r>
                      <a:endParaRPr sz="1200"/>
                    </a:p>
                  </a:txBody>
                  <a:tcPr marT="91425" marB="91425" marR="91425" marL="91425"/>
                </a:tc>
              </a:tr>
              <a:tr h="1030475">
                <a:tc>
                  <a:txBody>
                    <a:bodyPr/>
                    <a:lstStyle/>
                    <a:p>
                      <a:pPr indent="0" lvl="0" marL="0" rtl="0" algn="l">
                        <a:spcBef>
                          <a:spcPts val="0"/>
                        </a:spcBef>
                        <a:spcAft>
                          <a:spcPts val="0"/>
                        </a:spcAft>
                        <a:buNone/>
                      </a:pPr>
                      <a:r>
                        <a:rPr lang="en-GB"/>
                        <a:t>2</a:t>
                      </a:r>
                      <a:endParaRPr/>
                    </a:p>
                  </a:txBody>
                  <a:tcPr marT="91425" marB="91425" marR="91425" marL="91425"/>
                </a:tc>
                <a:tc>
                  <a:txBody>
                    <a:bodyPr/>
                    <a:lstStyle/>
                    <a:p>
                      <a:pPr indent="0" lvl="0" marL="0" rtl="0" algn="l">
                        <a:spcBef>
                          <a:spcPts val="0"/>
                        </a:spcBef>
                        <a:spcAft>
                          <a:spcPts val="0"/>
                        </a:spcAft>
                        <a:buNone/>
                      </a:pPr>
                      <a:r>
                        <a:rPr i="1" lang="en-GB" sz="1100">
                          <a:solidFill>
                            <a:schemeClr val="dk1"/>
                          </a:solidFill>
                        </a:rPr>
                        <a:t>“A Vision-Based System for American Sign Language Recognition”</a:t>
                      </a:r>
                      <a:r>
                        <a:rPr lang="en-GB" sz="1100">
                          <a:solidFill>
                            <a:schemeClr val="dk1"/>
                          </a:solidFill>
                        </a:rPr>
                        <a:t> – Patel and Gupta (Conference: ICMLA)</a:t>
                      </a:r>
                      <a:endParaRPr/>
                    </a:p>
                  </a:txBody>
                  <a:tcPr marT="91425" marB="91425" marR="91425" marL="91425"/>
                </a:tc>
                <a:tc>
                  <a:txBody>
                    <a:bodyPr/>
                    <a:lstStyle/>
                    <a:p>
                      <a:pPr indent="0" lvl="0" marL="0" rtl="0" algn="ctr">
                        <a:spcBef>
                          <a:spcPts val="0"/>
                        </a:spcBef>
                        <a:spcAft>
                          <a:spcPts val="0"/>
                        </a:spcAft>
                        <a:buNone/>
                      </a:pPr>
                      <a:r>
                        <a:rPr lang="en-GB" sz="1200"/>
                        <a:t>2020</a:t>
                      </a:r>
                      <a:endParaRPr sz="1200"/>
                    </a:p>
                  </a:txBody>
                  <a:tcPr marT="91425" marB="91425" marR="91425" marL="91425"/>
                </a:tc>
                <a:tc>
                  <a:txBody>
                    <a:bodyPr/>
                    <a:lstStyle/>
                    <a:p>
                      <a:pPr indent="0" lvl="0" marL="0" rtl="0" algn="l">
                        <a:spcBef>
                          <a:spcPts val="0"/>
                        </a:spcBef>
                        <a:spcAft>
                          <a:spcPts val="0"/>
                        </a:spcAft>
                        <a:buNone/>
                      </a:pPr>
                      <a:r>
                        <a:rPr lang="en-GB" sz="1200"/>
                        <a:t>Used image segmentation and feature extraction for efficient static gesture recognition.</a:t>
                      </a:r>
                      <a:endParaRPr sz="1200"/>
                    </a:p>
                  </a:txBody>
                  <a:tcPr marT="91425" marB="91425" marR="91425" marL="91425"/>
                </a:tc>
                <a:tc>
                  <a:txBody>
                    <a:bodyPr/>
                    <a:lstStyle/>
                    <a:p>
                      <a:pPr indent="0" lvl="0" marL="0" rtl="0" algn="l">
                        <a:spcBef>
                          <a:spcPts val="0"/>
                        </a:spcBef>
                        <a:spcAft>
                          <a:spcPts val="0"/>
                        </a:spcAft>
                        <a:buNone/>
                      </a:pPr>
                      <a:r>
                        <a:rPr lang="en-GB" sz="1200"/>
                        <a:t>Only focuses on static hand gestures; no real-time audio or text output.</a:t>
                      </a:r>
                      <a:endParaRPr sz="1200"/>
                    </a:p>
                  </a:txBody>
                  <a:tcPr marT="91425" marB="91425" marR="91425" marL="91425"/>
                </a:tc>
              </a:tr>
              <a:tr h="1114525">
                <a:tc>
                  <a:txBody>
                    <a:bodyPr/>
                    <a:lstStyle/>
                    <a:p>
                      <a:pPr indent="0" lvl="0" marL="0" rtl="0" algn="l">
                        <a:spcBef>
                          <a:spcPts val="0"/>
                        </a:spcBef>
                        <a:spcAft>
                          <a:spcPts val="0"/>
                        </a:spcAft>
                        <a:buNone/>
                      </a:pPr>
                      <a:r>
                        <a:rPr lang="en-GB"/>
                        <a:t>3</a:t>
                      </a:r>
                      <a:endParaRPr/>
                    </a:p>
                  </a:txBody>
                  <a:tcPr marT="91425" marB="91425" marR="91425" marL="91425"/>
                </a:tc>
                <a:tc>
                  <a:txBody>
                    <a:bodyPr/>
                    <a:lstStyle/>
                    <a:p>
                      <a:pPr indent="0" lvl="0" marL="0" rtl="0" algn="l">
                        <a:spcBef>
                          <a:spcPts val="0"/>
                        </a:spcBef>
                        <a:spcAft>
                          <a:spcPts val="0"/>
                        </a:spcAft>
                        <a:buNone/>
                      </a:pPr>
                      <a:r>
                        <a:rPr i="1" lang="en-GB" sz="1100">
                          <a:solidFill>
                            <a:schemeClr val="dk1"/>
                          </a:solidFill>
                        </a:rPr>
                        <a:t>“Transformer-Based Framework for Sign-to-Text Conversion”</a:t>
                      </a:r>
                      <a:r>
                        <a:rPr lang="en-GB" sz="1100">
                          <a:solidFill>
                            <a:schemeClr val="dk1"/>
                          </a:solidFill>
                        </a:rPr>
                        <a:t> – Liu et al. (Journal: Computer Vision and Image Understanding)</a:t>
                      </a:r>
                      <a:endParaRPr/>
                    </a:p>
                  </a:txBody>
                  <a:tcPr marT="91425" marB="91425" marR="91425" marL="91425"/>
                </a:tc>
                <a:tc>
                  <a:txBody>
                    <a:bodyPr/>
                    <a:lstStyle/>
                    <a:p>
                      <a:pPr indent="0" lvl="0" marL="0" rtl="0" algn="ctr">
                        <a:spcBef>
                          <a:spcPts val="0"/>
                        </a:spcBef>
                        <a:spcAft>
                          <a:spcPts val="0"/>
                        </a:spcAft>
                        <a:buNone/>
                      </a:pPr>
                      <a:r>
                        <a:rPr lang="en-GB" sz="1200"/>
                        <a:t>2022</a:t>
                      </a:r>
                      <a:endParaRPr sz="1200"/>
                    </a:p>
                  </a:txBody>
                  <a:tcPr marT="91425" marB="91425" marR="91425" marL="91425"/>
                </a:tc>
                <a:tc>
                  <a:txBody>
                    <a:bodyPr/>
                    <a:lstStyle/>
                    <a:p>
                      <a:pPr indent="0" lvl="0" marL="0" rtl="0" algn="l">
                        <a:spcBef>
                          <a:spcPts val="0"/>
                        </a:spcBef>
                        <a:spcAft>
                          <a:spcPts val="0"/>
                        </a:spcAft>
                        <a:buNone/>
                      </a:pPr>
                      <a:r>
                        <a:rPr lang="en-GB" sz="1200"/>
                        <a:t>Implemented a transformer model that improved semantic understanding and translation accuracy.</a:t>
                      </a:r>
                      <a:endParaRPr sz="1200"/>
                    </a:p>
                  </a:txBody>
                  <a:tcPr marT="91425" marB="91425" marR="91425" marL="91425"/>
                </a:tc>
                <a:tc>
                  <a:txBody>
                    <a:bodyPr/>
                    <a:lstStyle/>
                    <a:p>
                      <a:pPr indent="0" lvl="0" marL="0" rtl="0" algn="l">
                        <a:spcBef>
                          <a:spcPts val="0"/>
                        </a:spcBef>
                        <a:spcAft>
                          <a:spcPts val="0"/>
                        </a:spcAft>
                        <a:buNone/>
                      </a:pPr>
                      <a:r>
                        <a:rPr lang="en-GB" sz="1200"/>
                        <a:t>High computational cost; lacks adaptability to real-world lighting and background conditions.</a:t>
                      </a:r>
                      <a:endParaRPr sz="1200"/>
                    </a:p>
                  </a:txBody>
                  <a:tcPr marT="91425" marB="91425" marR="91425" marL="91425"/>
                </a:tc>
              </a:tr>
              <a:tr h="1030975">
                <a:tc>
                  <a:txBody>
                    <a:bodyPr/>
                    <a:lstStyle/>
                    <a:p>
                      <a:pPr indent="0" lvl="0" marL="0" rtl="0" algn="l">
                        <a:spcBef>
                          <a:spcPts val="0"/>
                        </a:spcBef>
                        <a:spcAft>
                          <a:spcPts val="0"/>
                        </a:spcAft>
                        <a:buNone/>
                      </a:pPr>
                      <a:r>
                        <a:rPr lang="en-GB"/>
                        <a:t>4</a:t>
                      </a:r>
                      <a:endParaRPr/>
                    </a:p>
                  </a:txBody>
                  <a:tcPr marT="91425" marB="91425" marR="91425" marL="91425"/>
                </a:tc>
                <a:tc>
                  <a:txBody>
                    <a:bodyPr/>
                    <a:lstStyle/>
                    <a:p>
                      <a:pPr indent="0" lvl="0" marL="0" rtl="0" algn="l">
                        <a:spcBef>
                          <a:spcPts val="0"/>
                        </a:spcBef>
                        <a:spcAft>
                          <a:spcPts val="0"/>
                        </a:spcAft>
                        <a:buNone/>
                      </a:pPr>
                      <a:r>
                        <a:rPr i="1" lang="en-GB" sz="1100">
                          <a:solidFill>
                            <a:schemeClr val="dk1"/>
                          </a:solidFill>
                        </a:rPr>
                        <a:t>“Sign Language to Speech Conversion Using IoT and Machine Learning”</a:t>
                      </a:r>
                      <a:r>
                        <a:rPr lang="en-GB" sz="1100">
                          <a:solidFill>
                            <a:schemeClr val="dk1"/>
                          </a:solidFill>
                        </a:rPr>
                        <a:t> – Khan et al. (Conference: ICCC)</a:t>
                      </a:r>
                      <a:endParaRPr/>
                    </a:p>
                  </a:txBody>
                  <a:tcPr marT="91425" marB="91425" marR="91425" marL="91425"/>
                </a:tc>
                <a:tc>
                  <a:txBody>
                    <a:bodyPr/>
                    <a:lstStyle/>
                    <a:p>
                      <a:pPr indent="0" lvl="0" marL="0" rtl="0" algn="ctr">
                        <a:spcBef>
                          <a:spcPts val="0"/>
                        </a:spcBef>
                        <a:spcAft>
                          <a:spcPts val="0"/>
                        </a:spcAft>
                        <a:buNone/>
                      </a:pPr>
                      <a:r>
                        <a:rPr lang="en-GB" sz="1200"/>
                        <a:t>2023</a:t>
                      </a:r>
                      <a:endParaRPr sz="1200"/>
                    </a:p>
                  </a:txBody>
                  <a:tcPr marT="91425" marB="91425" marR="91425" marL="91425"/>
                </a:tc>
                <a:tc>
                  <a:txBody>
                    <a:bodyPr/>
                    <a:lstStyle/>
                    <a:p>
                      <a:pPr indent="0" lvl="0" marL="0" rtl="0" algn="l">
                        <a:spcBef>
                          <a:spcPts val="0"/>
                        </a:spcBef>
                        <a:spcAft>
                          <a:spcPts val="0"/>
                        </a:spcAft>
                        <a:buNone/>
                      </a:pPr>
                      <a:r>
                        <a:rPr lang="en-GB" sz="1200"/>
                        <a:t>Integrated IoT devices with AI for wearable gesture capture and live audio output.</a:t>
                      </a:r>
                      <a:endParaRPr sz="1200"/>
                    </a:p>
                  </a:txBody>
                  <a:tcPr marT="91425" marB="91425" marR="91425" marL="91425"/>
                </a:tc>
                <a:tc>
                  <a:txBody>
                    <a:bodyPr/>
                    <a:lstStyle/>
                    <a:p>
                      <a:pPr indent="0" lvl="0" marL="0" rtl="0" algn="l">
                        <a:spcBef>
                          <a:spcPts val="0"/>
                        </a:spcBef>
                        <a:spcAft>
                          <a:spcPts val="0"/>
                        </a:spcAft>
                        <a:buNone/>
                      </a:pPr>
                      <a:r>
                        <a:rPr lang="en-GB" sz="1200"/>
                        <a:t>Device-dependent; lacks scalability and user personalization features.</a:t>
                      </a:r>
                      <a:endParaRPr sz="1200"/>
                    </a:p>
                  </a:txBody>
                  <a:tcPr marT="91425" marB="91425" marR="91425" marL="91425"/>
                </a:tc>
              </a:tr>
              <a:tr h="1030475">
                <a:tc>
                  <a:txBody>
                    <a:bodyPr/>
                    <a:lstStyle/>
                    <a:p>
                      <a:pPr indent="0" lvl="0" marL="0" rtl="0" algn="l">
                        <a:spcBef>
                          <a:spcPts val="0"/>
                        </a:spcBef>
                        <a:spcAft>
                          <a:spcPts val="0"/>
                        </a:spcAft>
                        <a:buNone/>
                      </a:pPr>
                      <a:r>
                        <a:rPr lang="en-GB"/>
                        <a:t>5</a:t>
                      </a:r>
                      <a:endParaRPr/>
                    </a:p>
                  </a:txBody>
                  <a:tcPr marT="91425" marB="91425" marR="91425" marL="91425"/>
                </a:tc>
                <a:tc>
                  <a:txBody>
                    <a:bodyPr/>
                    <a:lstStyle/>
                    <a:p>
                      <a:pPr indent="0" lvl="0" marL="0" rtl="0" algn="l">
                        <a:spcBef>
                          <a:spcPts val="0"/>
                        </a:spcBef>
                        <a:spcAft>
                          <a:spcPts val="0"/>
                        </a:spcAft>
                        <a:buNone/>
                      </a:pPr>
                      <a:r>
                        <a:rPr i="1" lang="en-GB" sz="1100">
                          <a:solidFill>
                            <a:schemeClr val="dk1"/>
                          </a:solidFill>
                        </a:rPr>
                        <a:t>“Multimodal Neural Networks for Sign Language Translation”</a:t>
                      </a:r>
                      <a:r>
                        <a:rPr lang="en-GB" sz="1100">
                          <a:solidFill>
                            <a:schemeClr val="dk1"/>
                          </a:solidFill>
                        </a:rPr>
                        <a:t> – Das and Roy (Journal: Expert Systems with Applications)</a:t>
                      </a:r>
                      <a:endParaRPr/>
                    </a:p>
                  </a:txBody>
                  <a:tcPr marT="91425" marB="91425" marR="91425" marL="91425"/>
                </a:tc>
                <a:tc>
                  <a:txBody>
                    <a:bodyPr/>
                    <a:lstStyle/>
                    <a:p>
                      <a:pPr indent="0" lvl="0" marL="0" rtl="0" algn="ctr">
                        <a:spcBef>
                          <a:spcPts val="0"/>
                        </a:spcBef>
                        <a:spcAft>
                          <a:spcPts val="0"/>
                        </a:spcAft>
                        <a:buNone/>
                      </a:pPr>
                      <a:r>
                        <a:rPr lang="en-GB" sz="1200"/>
                        <a:t>2024</a:t>
                      </a:r>
                      <a:endParaRPr sz="1200"/>
                    </a:p>
                  </a:txBody>
                  <a:tcPr marT="91425" marB="91425" marR="91425" marL="91425"/>
                </a:tc>
                <a:tc>
                  <a:txBody>
                    <a:bodyPr/>
                    <a:lstStyle/>
                    <a:p>
                      <a:pPr indent="0" lvl="0" marL="0" rtl="0" algn="l">
                        <a:spcBef>
                          <a:spcPts val="0"/>
                        </a:spcBef>
                        <a:spcAft>
                          <a:spcPts val="0"/>
                        </a:spcAft>
                        <a:buNone/>
                      </a:pPr>
                      <a:r>
                        <a:rPr lang="en-GB" sz="1200"/>
                        <a:t>Combined visual and motion sensor data for improved translation accuracy and context understanding.</a:t>
                      </a:r>
                      <a:endParaRPr sz="1200"/>
                    </a:p>
                  </a:txBody>
                  <a:tcPr marT="91425" marB="91425" marR="91425" marL="91425"/>
                </a:tc>
                <a:tc>
                  <a:txBody>
                    <a:bodyPr/>
                    <a:lstStyle/>
                    <a:p>
                      <a:pPr indent="0" lvl="0" marL="0" rtl="0" algn="l">
                        <a:spcBef>
                          <a:spcPts val="0"/>
                        </a:spcBef>
                        <a:spcAft>
                          <a:spcPts val="0"/>
                        </a:spcAft>
                        <a:buNone/>
                      </a:pPr>
                      <a:r>
                        <a:rPr lang="en-GB" sz="1200"/>
                        <a:t>Does not include emotional tone or facial expression interpretation, reducing naturalness of translation.</a:t>
                      </a:r>
                      <a:endParaRPr sz="1200"/>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311700" y="877300"/>
            <a:ext cx="8520600" cy="4266300"/>
          </a:xfrm>
          <a:prstGeom prst="rect">
            <a:avLst/>
          </a:prstGeom>
          <a:solidFill>
            <a:schemeClr val="lt1"/>
          </a:solidFill>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sz="1708">
                <a:solidFill>
                  <a:schemeClr val="dk1"/>
                </a:solidFill>
                <a:latin typeface="Lora Medium"/>
                <a:ea typeface="Lora Medium"/>
                <a:cs typeface="Lora Medium"/>
                <a:sym typeface="Lora Medium"/>
              </a:rPr>
              <a:t>Problem statement</a:t>
            </a:r>
            <a:r>
              <a:rPr lang="en-GB" sz="1908">
                <a:solidFill>
                  <a:schemeClr val="dk1"/>
                </a:solidFill>
                <a:latin typeface="Lora Medium"/>
                <a:ea typeface="Lora Medium"/>
                <a:cs typeface="Lora Medium"/>
                <a:sym typeface="Lora Medium"/>
              </a:rPr>
              <a:t>- </a:t>
            </a:r>
            <a:r>
              <a:rPr lang="en-GB" sz="1616">
                <a:solidFill>
                  <a:schemeClr val="dk1"/>
                </a:solidFill>
                <a:latin typeface="Lora Medium"/>
                <a:ea typeface="Lora Medium"/>
                <a:cs typeface="Lora Medium"/>
                <a:sym typeface="Lora Medium"/>
              </a:rPr>
              <a:t>Existing sign language translation systems lack real-time processing, contextual understanding, and adaptability. To overcome these limitations, an Agentic AI-based system is needed that can learn, adapt, and accurately convert sign language into human language in real time for seamless communication.</a:t>
            </a:r>
            <a:endParaRPr sz="1616">
              <a:solidFill>
                <a:schemeClr val="dk1"/>
              </a:solidFill>
              <a:latin typeface="Lora Medium"/>
              <a:ea typeface="Lora Medium"/>
              <a:cs typeface="Lora Medium"/>
              <a:sym typeface="Lora Medium"/>
            </a:endParaRPr>
          </a:p>
          <a:p>
            <a:pPr indent="0" lvl="0" marL="0" rtl="0" algn="l">
              <a:spcBef>
                <a:spcPts val="1400"/>
              </a:spcBef>
              <a:spcAft>
                <a:spcPts val="0"/>
              </a:spcAft>
              <a:buClr>
                <a:schemeClr val="dk1"/>
              </a:buClr>
              <a:buSzPct val="65716"/>
              <a:buFont typeface="Arial"/>
              <a:buNone/>
            </a:pPr>
            <a:r>
              <a:rPr b="1" lang="en-GB" sz="1673">
                <a:solidFill>
                  <a:schemeClr val="dk1"/>
                </a:solidFill>
              </a:rPr>
              <a:t>Gaps in Literature Survey</a:t>
            </a:r>
            <a:endParaRPr b="1" sz="1673">
              <a:solidFill>
                <a:schemeClr val="dk1"/>
              </a:solidFill>
            </a:endParaRPr>
          </a:p>
          <a:p>
            <a:pPr indent="-315170" lvl="0" marL="457200" rtl="0" algn="l">
              <a:spcBef>
                <a:spcPts val="1200"/>
              </a:spcBef>
              <a:spcAft>
                <a:spcPts val="0"/>
              </a:spcAft>
              <a:buClr>
                <a:schemeClr val="dk1"/>
              </a:buClr>
              <a:buSzPct val="100000"/>
              <a:buChar char="●"/>
            </a:pPr>
            <a:r>
              <a:rPr lang="en-GB" sz="1473">
                <a:solidFill>
                  <a:schemeClr val="dk1"/>
                </a:solidFill>
              </a:rPr>
              <a:t>Existing models have </a:t>
            </a:r>
            <a:r>
              <a:rPr b="1" lang="en-GB" sz="1473">
                <a:solidFill>
                  <a:schemeClr val="dk1"/>
                </a:solidFill>
              </a:rPr>
              <a:t>limited vocabulary</a:t>
            </a:r>
            <a:r>
              <a:rPr lang="en-GB" sz="1473">
                <a:solidFill>
                  <a:schemeClr val="dk1"/>
                </a:solidFill>
              </a:rPr>
              <a:t> and lack </a:t>
            </a:r>
            <a:r>
              <a:rPr b="1" lang="en-GB" sz="1473">
                <a:solidFill>
                  <a:schemeClr val="dk1"/>
                </a:solidFill>
              </a:rPr>
              <a:t>contextual understanding</a:t>
            </a:r>
            <a:r>
              <a:rPr lang="en-GB" sz="1473">
                <a:solidFill>
                  <a:schemeClr val="dk1"/>
                </a:solidFill>
              </a:rPr>
              <a:t>.</a:t>
            </a:r>
            <a:br>
              <a:rPr lang="en-GB" sz="1473">
                <a:solidFill>
                  <a:schemeClr val="dk1"/>
                </a:solidFill>
              </a:rPr>
            </a:br>
            <a:endParaRPr sz="1473">
              <a:solidFill>
                <a:schemeClr val="dk1"/>
              </a:solidFill>
            </a:endParaRPr>
          </a:p>
          <a:p>
            <a:pPr indent="-315170" lvl="0" marL="457200" rtl="0" algn="l">
              <a:spcBef>
                <a:spcPts val="0"/>
              </a:spcBef>
              <a:spcAft>
                <a:spcPts val="0"/>
              </a:spcAft>
              <a:buClr>
                <a:schemeClr val="dk1"/>
              </a:buClr>
              <a:buSzPct val="100000"/>
              <a:buChar char="●"/>
            </a:pPr>
            <a:r>
              <a:rPr lang="en-GB" sz="1473">
                <a:solidFill>
                  <a:schemeClr val="dk1"/>
                </a:solidFill>
              </a:rPr>
              <a:t>Most approaches depend on </a:t>
            </a:r>
            <a:r>
              <a:rPr b="1" lang="en-GB" sz="1473">
                <a:solidFill>
                  <a:schemeClr val="dk1"/>
                </a:solidFill>
              </a:rPr>
              <a:t>static gestures</a:t>
            </a:r>
            <a:r>
              <a:rPr lang="en-GB" sz="1473">
                <a:solidFill>
                  <a:schemeClr val="dk1"/>
                </a:solidFill>
              </a:rPr>
              <a:t> and fail to process </a:t>
            </a:r>
            <a:r>
              <a:rPr b="1" lang="en-GB" sz="1473">
                <a:solidFill>
                  <a:schemeClr val="dk1"/>
                </a:solidFill>
              </a:rPr>
              <a:t>continuous signing</a:t>
            </a:r>
            <a:r>
              <a:rPr lang="en-GB" sz="1473">
                <a:solidFill>
                  <a:schemeClr val="dk1"/>
                </a:solidFill>
              </a:rPr>
              <a:t>.</a:t>
            </a:r>
            <a:br>
              <a:rPr lang="en-GB" sz="1473">
                <a:solidFill>
                  <a:schemeClr val="dk1"/>
                </a:solidFill>
              </a:rPr>
            </a:br>
            <a:endParaRPr sz="1473">
              <a:solidFill>
                <a:schemeClr val="dk1"/>
              </a:solidFill>
            </a:endParaRPr>
          </a:p>
          <a:p>
            <a:pPr indent="-315170" lvl="0" marL="457200" rtl="0" algn="l">
              <a:spcBef>
                <a:spcPts val="0"/>
              </a:spcBef>
              <a:spcAft>
                <a:spcPts val="0"/>
              </a:spcAft>
              <a:buClr>
                <a:schemeClr val="dk1"/>
              </a:buClr>
              <a:buSzPct val="100000"/>
              <a:buChar char="●"/>
            </a:pPr>
            <a:r>
              <a:rPr b="1" lang="en-GB" sz="1473">
                <a:solidFill>
                  <a:schemeClr val="dk1"/>
                </a:solidFill>
              </a:rPr>
              <a:t>Real-time performance</a:t>
            </a:r>
            <a:r>
              <a:rPr lang="en-GB" sz="1473">
                <a:solidFill>
                  <a:schemeClr val="dk1"/>
                </a:solidFill>
              </a:rPr>
              <a:t> is poor, especially in dynamic environments.</a:t>
            </a:r>
            <a:br>
              <a:rPr lang="en-GB" sz="1473">
                <a:solidFill>
                  <a:schemeClr val="dk1"/>
                </a:solidFill>
              </a:rPr>
            </a:br>
            <a:endParaRPr sz="1473">
              <a:solidFill>
                <a:schemeClr val="dk1"/>
              </a:solidFill>
            </a:endParaRPr>
          </a:p>
          <a:p>
            <a:pPr indent="-315170" lvl="0" marL="457200" rtl="0" algn="l">
              <a:spcBef>
                <a:spcPts val="0"/>
              </a:spcBef>
              <a:spcAft>
                <a:spcPts val="0"/>
              </a:spcAft>
              <a:buClr>
                <a:schemeClr val="dk1"/>
              </a:buClr>
              <a:buSzPct val="100000"/>
              <a:buChar char="●"/>
            </a:pPr>
            <a:r>
              <a:rPr lang="en-GB" sz="1473">
                <a:solidFill>
                  <a:schemeClr val="dk1"/>
                </a:solidFill>
              </a:rPr>
              <a:t>Systems lack </a:t>
            </a:r>
            <a:r>
              <a:rPr b="1" lang="en-GB" sz="1473">
                <a:solidFill>
                  <a:schemeClr val="dk1"/>
                </a:solidFill>
              </a:rPr>
              <a:t>adaptability</a:t>
            </a:r>
            <a:r>
              <a:rPr lang="en-GB" sz="1473">
                <a:solidFill>
                  <a:schemeClr val="dk1"/>
                </a:solidFill>
              </a:rPr>
              <a:t> to lighting, background, and user variations.</a:t>
            </a:r>
            <a:br>
              <a:rPr lang="en-GB" sz="1473">
                <a:solidFill>
                  <a:schemeClr val="dk1"/>
                </a:solidFill>
              </a:rPr>
            </a:br>
            <a:endParaRPr sz="1473">
              <a:solidFill>
                <a:schemeClr val="dk1"/>
              </a:solidFill>
            </a:endParaRPr>
          </a:p>
          <a:p>
            <a:pPr indent="-315170" lvl="0" marL="457200" rtl="0" algn="l">
              <a:spcBef>
                <a:spcPts val="0"/>
              </a:spcBef>
              <a:spcAft>
                <a:spcPts val="0"/>
              </a:spcAft>
              <a:buClr>
                <a:schemeClr val="dk1"/>
              </a:buClr>
              <a:buSzPct val="100000"/>
              <a:buChar char="●"/>
            </a:pPr>
            <a:r>
              <a:rPr b="1" lang="en-GB" sz="1473">
                <a:solidFill>
                  <a:schemeClr val="dk1"/>
                </a:solidFill>
              </a:rPr>
              <a:t>Facial expressions and emotional cues</a:t>
            </a:r>
            <a:r>
              <a:rPr lang="en-GB" sz="1473">
                <a:solidFill>
                  <a:schemeClr val="dk1"/>
                </a:solidFill>
              </a:rPr>
              <a:t> are often ignored.</a:t>
            </a:r>
            <a:br>
              <a:rPr lang="en-GB" sz="1473">
                <a:solidFill>
                  <a:schemeClr val="dk1"/>
                </a:solidFill>
              </a:rPr>
            </a:br>
            <a:endParaRPr sz="1473">
              <a:solidFill>
                <a:schemeClr val="dk1"/>
              </a:solidFill>
            </a:endParaRPr>
          </a:p>
          <a:p>
            <a:pPr indent="-315170" lvl="0" marL="457200" rtl="0" algn="l">
              <a:spcBef>
                <a:spcPts val="0"/>
              </a:spcBef>
              <a:spcAft>
                <a:spcPts val="0"/>
              </a:spcAft>
              <a:buClr>
                <a:schemeClr val="dk1"/>
              </a:buClr>
              <a:buSzPct val="100000"/>
              <a:buChar char="●"/>
            </a:pPr>
            <a:r>
              <a:rPr lang="en-GB" sz="1473">
                <a:solidFill>
                  <a:schemeClr val="dk1"/>
                </a:solidFill>
              </a:rPr>
              <a:t>No existing system employs </a:t>
            </a:r>
            <a:r>
              <a:rPr b="1" lang="en-GB" sz="1473">
                <a:solidFill>
                  <a:schemeClr val="dk1"/>
                </a:solidFill>
              </a:rPr>
              <a:t>agentic AI</a:t>
            </a:r>
            <a:r>
              <a:rPr lang="en-GB" sz="1473">
                <a:solidFill>
                  <a:schemeClr val="dk1"/>
                </a:solidFill>
              </a:rPr>
              <a:t> capable of learning and adapting over time.</a:t>
            </a:r>
            <a:endParaRPr sz="1473">
              <a:solidFill>
                <a:schemeClr val="dk1"/>
              </a:solidFill>
            </a:endParaRPr>
          </a:p>
          <a:p>
            <a:pPr indent="0" lvl="0" marL="0" rtl="0" algn="l">
              <a:spcBef>
                <a:spcPts val="1200"/>
              </a:spcBef>
              <a:spcAft>
                <a:spcPts val="1200"/>
              </a:spcAft>
              <a:buNone/>
            </a:pPr>
            <a:r>
              <a:t/>
            </a:r>
            <a:endParaRPr b="1" sz="1300">
              <a:solidFill>
                <a:schemeClr val="dk1"/>
              </a:solidFill>
            </a:endParaRPr>
          </a:p>
        </p:txBody>
      </p:sp>
      <p:pic>
        <p:nvPicPr>
          <p:cNvPr id="68" name="Google Shape;68;p15"/>
          <p:cNvPicPr preferRelativeResize="0"/>
          <p:nvPr/>
        </p:nvPicPr>
        <p:blipFill>
          <a:blip r:embed="rId3">
            <a:alphaModFix/>
          </a:blip>
          <a:stretch>
            <a:fillRect/>
          </a:stretch>
        </p:blipFill>
        <p:spPr>
          <a:xfrm>
            <a:off x="6197450" y="214100"/>
            <a:ext cx="2730499" cy="66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311700" y="301350"/>
            <a:ext cx="8520600" cy="4613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GB" sz="1500">
                <a:solidFill>
                  <a:schemeClr val="dk1"/>
                </a:solidFill>
              </a:rPr>
              <a:t> </a:t>
            </a:r>
            <a:r>
              <a:rPr b="1" lang="en-GB" sz="1700">
                <a:solidFill>
                  <a:schemeClr val="dk1"/>
                </a:solidFill>
              </a:rPr>
              <a:t>Justification of the Problem Statement</a:t>
            </a:r>
            <a:endParaRPr b="1" sz="1700">
              <a:solidFill>
                <a:schemeClr val="dk1"/>
              </a:solidFill>
            </a:endParaRPr>
          </a:p>
          <a:p>
            <a:pPr indent="-311150" lvl="0" marL="457200" rtl="0" algn="l">
              <a:spcBef>
                <a:spcPts val="1200"/>
              </a:spcBef>
              <a:spcAft>
                <a:spcPts val="0"/>
              </a:spcAft>
              <a:buClr>
                <a:schemeClr val="dk1"/>
              </a:buClr>
              <a:buSzPts val="1300"/>
              <a:buChar char="●"/>
            </a:pPr>
            <a:r>
              <a:rPr lang="en-GB" sz="1300">
                <a:solidFill>
                  <a:schemeClr val="dk1"/>
                </a:solidFill>
              </a:rPr>
              <a:t>Introduces </a:t>
            </a:r>
            <a:r>
              <a:rPr b="1" lang="en-GB" sz="1300">
                <a:solidFill>
                  <a:schemeClr val="dk1"/>
                </a:solidFill>
              </a:rPr>
              <a:t>Agentic AI</a:t>
            </a:r>
            <a:r>
              <a:rPr lang="en-GB" sz="1300">
                <a:solidFill>
                  <a:schemeClr val="dk1"/>
                </a:solidFill>
              </a:rPr>
              <a:t> capable of self-learning and adapting from user interactions for improved translation accuracy.</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Enables </a:t>
            </a:r>
            <a:r>
              <a:rPr b="1" lang="en-GB" sz="1300">
                <a:solidFill>
                  <a:schemeClr val="dk1"/>
                </a:solidFill>
              </a:rPr>
              <a:t>real-time sign-to-text/speech conversion</a:t>
            </a:r>
            <a:r>
              <a:rPr lang="en-GB" sz="1300">
                <a:solidFill>
                  <a:schemeClr val="dk1"/>
                </a:solidFill>
              </a:rPr>
              <a:t> to facilitate natural communication between signers and non-signers.</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Utilizes </a:t>
            </a:r>
            <a:r>
              <a:rPr b="1" lang="en-GB" sz="1300">
                <a:solidFill>
                  <a:schemeClr val="dk1"/>
                </a:solidFill>
              </a:rPr>
              <a:t>multimodal processing</a:t>
            </a:r>
            <a:r>
              <a:rPr lang="en-GB" sz="1300">
                <a:solidFill>
                  <a:schemeClr val="dk1"/>
                </a:solidFill>
              </a:rPr>
              <a:t> — combining hand gestures, facial expressions, and contextual cues for higher accuracy.</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Ensures </a:t>
            </a:r>
            <a:r>
              <a:rPr b="1" lang="en-GB" sz="1300">
                <a:solidFill>
                  <a:schemeClr val="dk1"/>
                </a:solidFill>
              </a:rPr>
              <a:t>robust performance</a:t>
            </a:r>
            <a:r>
              <a:rPr lang="en-GB" sz="1300">
                <a:solidFill>
                  <a:schemeClr val="dk1"/>
                </a:solidFill>
              </a:rPr>
              <a:t> across varied lighting, backgrounds, and signer differences.</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Provides </a:t>
            </a:r>
            <a:r>
              <a:rPr b="1" lang="en-GB" sz="1300">
                <a:solidFill>
                  <a:schemeClr val="dk1"/>
                </a:solidFill>
              </a:rPr>
              <a:t>context-aware translation</a:t>
            </a:r>
            <a:r>
              <a:rPr lang="en-GB" sz="1300">
                <a:solidFill>
                  <a:schemeClr val="dk1"/>
                </a:solidFill>
              </a:rPr>
              <a:t>, understanding sentence meaning rather than isolated gestures.</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Promotes </a:t>
            </a:r>
            <a:r>
              <a:rPr b="1" lang="en-GB" sz="1300">
                <a:solidFill>
                  <a:schemeClr val="dk1"/>
                </a:solidFill>
              </a:rPr>
              <a:t>accessibility and inclusivity</a:t>
            </a:r>
            <a:r>
              <a:rPr lang="en-GB" sz="1300">
                <a:solidFill>
                  <a:schemeClr val="dk1"/>
                </a:solidFill>
              </a:rPr>
              <a:t>, bridging communication gaps in education, workplaces, and daily life.</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Offers a </a:t>
            </a:r>
            <a:r>
              <a:rPr b="1" lang="en-GB" sz="1300">
                <a:solidFill>
                  <a:schemeClr val="dk1"/>
                </a:solidFill>
              </a:rPr>
              <a:t>scalable and intelligent solution</a:t>
            </a:r>
            <a:r>
              <a:rPr lang="en-GB" sz="1300">
                <a:solidFill>
                  <a:schemeClr val="dk1"/>
                </a:solidFill>
              </a:rPr>
              <a:t> adaptable to multiple sign languages and regional variations.</a:t>
            </a:r>
            <a:endParaRPr sz="1300">
              <a:solidFill>
                <a:schemeClr val="dk1"/>
              </a:solidFill>
            </a:endParaRPr>
          </a:p>
          <a:p>
            <a:pPr indent="0" lvl="0" marL="0" rtl="0" algn="l">
              <a:spcBef>
                <a:spcPts val="1200"/>
              </a:spcBef>
              <a:spcAft>
                <a:spcPts val="1200"/>
              </a:spcAft>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GB" sz="2220"/>
              <a:t>Requirements Identification and Gathering (Based on Literature Survey)</a:t>
            </a:r>
            <a:endParaRPr sz="2220"/>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1400"/>
              </a:spcBef>
              <a:spcAft>
                <a:spcPts val="0"/>
              </a:spcAft>
              <a:buClr>
                <a:schemeClr val="dk1"/>
              </a:buClr>
              <a:buSzPts val="1100"/>
              <a:buFont typeface="Arial"/>
              <a:buNone/>
            </a:pPr>
            <a:r>
              <a:rPr b="1" lang="en-GB" sz="1600">
                <a:solidFill>
                  <a:schemeClr val="dk1"/>
                </a:solidFill>
              </a:rPr>
              <a:t>Requirements Identified from Literature Survey</a:t>
            </a:r>
            <a:endParaRPr b="1" sz="1600">
              <a:solidFill>
                <a:schemeClr val="dk1"/>
              </a:solidFill>
            </a:endParaRPr>
          </a:p>
          <a:p>
            <a:pPr indent="-317500" lvl="0" marL="457200" rtl="0" algn="l">
              <a:lnSpc>
                <a:spcPct val="100000"/>
              </a:lnSpc>
              <a:spcBef>
                <a:spcPts val="1200"/>
              </a:spcBef>
              <a:spcAft>
                <a:spcPts val="0"/>
              </a:spcAft>
              <a:buClr>
                <a:schemeClr val="dk1"/>
              </a:buClr>
              <a:buSzPts val="1400"/>
              <a:buChar char="●"/>
            </a:pPr>
            <a:r>
              <a:rPr lang="en-GB" sz="1400">
                <a:solidFill>
                  <a:schemeClr val="dk1"/>
                </a:solidFill>
              </a:rPr>
              <a:t>Need for </a:t>
            </a:r>
            <a:r>
              <a:rPr b="1" lang="en-GB" sz="1400">
                <a:solidFill>
                  <a:schemeClr val="dk1"/>
                </a:solidFill>
              </a:rPr>
              <a:t>real-time gesture recognition</a:t>
            </a:r>
            <a:r>
              <a:rPr lang="en-GB" sz="1400">
                <a:solidFill>
                  <a:schemeClr val="dk1"/>
                </a:solidFill>
              </a:rPr>
              <a:t> and </a:t>
            </a:r>
            <a:r>
              <a:rPr b="1" lang="en-GB" sz="1400">
                <a:solidFill>
                  <a:schemeClr val="dk1"/>
                </a:solidFill>
              </a:rPr>
              <a:t>instant translation</a:t>
            </a:r>
            <a:r>
              <a:rPr lang="en-GB" sz="1400">
                <a:solidFill>
                  <a:schemeClr val="dk1"/>
                </a:solidFill>
              </a:rPr>
              <a:t> to human language (text/speech).</a:t>
            </a:r>
            <a:br>
              <a:rPr lang="en-GB" sz="1400">
                <a:solidFill>
                  <a:schemeClr val="dk1"/>
                </a:solidFill>
              </a:rPr>
            </a:b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Integration of </a:t>
            </a:r>
            <a:r>
              <a:rPr b="1" lang="en-GB" sz="1400">
                <a:solidFill>
                  <a:schemeClr val="dk1"/>
                </a:solidFill>
              </a:rPr>
              <a:t>multimodal inputs</a:t>
            </a:r>
            <a:r>
              <a:rPr lang="en-GB" sz="1400">
                <a:solidFill>
                  <a:schemeClr val="dk1"/>
                </a:solidFill>
              </a:rPr>
              <a:t> such as hand gestures, facial expressions, and motion tracking.</a:t>
            </a:r>
            <a:br>
              <a:rPr lang="en-GB" sz="1400">
                <a:solidFill>
                  <a:schemeClr val="dk1"/>
                </a:solidFill>
              </a:rPr>
            </a:b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Implementation of </a:t>
            </a:r>
            <a:r>
              <a:rPr b="1" lang="en-GB" sz="1400">
                <a:solidFill>
                  <a:schemeClr val="dk1"/>
                </a:solidFill>
              </a:rPr>
              <a:t>Agentic AI</a:t>
            </a:r>
            <a:r>
              <a:rPr lang="en-GB" sz="1400">
                <a:solidFill>
                  <a:schemeClr val="dk1"/>
                </a:solidFill>
              </a:rPr>
              <a:t> capable of learning and adapting from user interactions.</a:t>
            </a:r>
            <a:br>
              <a:rPr lang="en-GB" sz="1400">
                <a:solidFill>
                  <a:schemeClr val="dk1"/>
                </a:solidFill>
              </a:rPr>
            </a:b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Requirement for a </a:t>
            </a:r>
            <a:r>
              <a:rPr b="1" lang="en-GB" sz="1400">
                <a:solidFill>
                  <a:schemeClr val="dk1"/>
                </a:solidFill>
              </a:rPr>
              <a:t>large, diverse sign language dataset</a:t>
            </a:r>
            <a:r>
              <a:rPr lang="en-GB" sz="1400">
                <a:solidFill>
                  <a:schemeClr val="dk1"/>
                </a:solidFill>
              </a:rPr>
              <a:t> to improve model generalization.</a:t>
            </a:r>
            <a:br>
              <a:rPr lang="en-GB" sz="1400">
                <a:solidFill>
                  <a:schemeClr val="dk1"/>
                </a:solidFill>
              </a:rPr>
            </a:b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Need for </a:t>
            </a:r>
            <a:r>
              <a:rPr b="1" lang="en-GB" sz="1400">
                <a:solidFill>
                  <a:schemeClr val="dk1"/>
                </a:solidFill>
              </a:rPr>
              <a:t>context-aware translation</a:t>
            </a:r>
            <a:r>
              <a:rPr lang="en-GB" sz="1400">
                <a:solidFill>
                  <a:schemeClr val="dk1"/>
                </a:solidFill>
              </a:rPr>
              <a:t> rather than gesture-by-gesture output.</a:t>
            </a:r>
            <a:br>
              <a:rPr lang="en-GB" sz="1400">
                <a:solidFill>
                  <a:schemeClr val="dk1"/>
                </a:solidFill>
              </a:rPr>
            </a:b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Development of an </a:t>
            </a:r>
            <a:r>
              <a:rPr b="1" lang="en-GB" sz="1400">
                <a:solidFill>
                  <a:schemeClr val="dk1"/>
                </a:solidFill>
              </a:rPr>
              <a:t>interactive and accessible interface</a:t>
            </a:r>
            <a:r>
              <a:rPr lang="en-GB" sz="1400">
                <a:solidFill>
                  <a:schemeClr val="dk1"/>
                </a:solidFill>
              </a:rPr>
              <a:t> for both hearing and speech-impaired users.</a:t>
            </a:r>
            <a:endParaRPr sz="1400">
              <a:solidFill>
                <a:schemeClr val="dk1"/>
              </a:solidFill>
            </a:endParaRPr>
          </a:p>
          <a:p>
            <a:pPr indent="0" lvl="0" marL="0" rtl="0" algn="l">
              <a:lnSpc>
                <a:spcPct val="100000"/>
              </a:lnSpc>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System Design (low level design)</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228600" rtl="0" algn="l">
              <a:spcBef>
                <a:spcPts val="1200"/>
              </a:spcBef>
              <a:spcAft>
                <a:spcPts val="0"/>
              </a:spcAft>
              <a:buNone/>
            </a:pPr>
            <a:r>
              <a:rPr lang="en-GB" sz="1100">
                <a:solidFill>
                  <a:schemeClr val="dk1"/>
                </a:solidFill>
              </a:rPr>
              <a:t>The system uses a Transformer-based sequence-to-sequence architecture to convert ISL pose vectors into English text.</a:t>
            </a:r>
            <a:br>
              <a:rPr lang="en-GB" sz="1100">
                <a:solidFill>
                  <a:schemeClr val="dk1"/>
                </a:solidFill>
              </a:rPr>
            </a:br>
            <a:endParaRPr sz="1100">
              <a:solidFill>
                <a:schemeClr val="dk1"/>
              </a:solidFill>
            </a:endParaRPr>
          </a:p>
          <a:p>
            <a:pPr indent="0" lvl="0" marL="228600" rtl="0" algn="l">
              <a:spcBef>
                <a:spcPts val="1200"/>
              </a:spcBef>
              <a:spcAft>
                <a:spcPts val="0"/>
              </a:spcAft>
              <a:buNone/>
            </a:pPr>
            <a:r>
              <a:rPr lang="en-GB" sz="1100">
                <a:solidFill>
                  <a:schemeClr val="dk1"/>
                </a:solidFill>
              </a:rPr>
              <a:t>Each pose frame is represented as a 297-dimensional vector, which is projected to a 384-dimensional embedding before entering the encoder.</a:t>
            </a:r>
            <a:br>
              <a:rPr lang="en-GB" sz="1100">
                <a:solidFill>
                  <a:schemeClr val="dk1"/>
                </a:solidFill>
              </a:rPr>
            </a:br>
            <a:endParaRPr sz="1100">
              <a:solidFill>
                <a:schemeClr val="dk1"/>
              </a:solidFill>
            </a:endParaRPr>
          </a:p>
          <a:p>
            <a:pPr indent="0" lvl="0" marL="0" rtl="0" algn="l">
              <a:spcBef>
                <a:spcPts val="1200"/>
              </a:spcBef>
              <a:spcAft>
                <a:spcPts val="0"/>
              </a:spcAft>
              <a:buNone/>
            </a:pPr>
            <a:r>
              <a:rPr lang="en-GB" sz="1100">
                <a:solidFill>
                  <a:schemeClr val="dk1"/>
                </a:solidFill>
              </a:rPr>
              <a:t>The Encoder consists of Linear(297→384) + 6 layers, each containing:</a:t>
            </a:r>
            <a:endParaRPr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Multi-Head Self-Attention</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Feed Forward Network (FFN)</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Layer Normalization</a:t>
            </a:r>
            <a:br>
              <a:rPr lang="en-GB" sz="1100">
                <a:solidFill>
                  <a:schemeClr val="dk1"/>
                </a:solidFill>
              </a:rPr>
            </a:br>
            <a:r>
              <a:rPr lang="en-GB" sz="1100">
                <a:solidFill>
                  <a:schemeClr val="dk1"/>
                </a:solidFill>
              </a:rPr>
              <a:t>These layers learn the spatial–temporal relationships in the full sign sequence.</a:t>
            </a:r>
            <a:endParaRPr sz="1100">
              <a:solidFill>
                <a:schemeClr val="dk1"/>
              </a:solidFill>
            </a:endParaRPr>
          </a:p>
          <a:p>
            <a:pPr indent="0" lvl="0" marL="457200" rtl="0" algn="l">
              <a:spcBef>
                <a:spcPts val="1200"/>
              </a:spcBef>
              <a:spcAft>
                <a:spcPts val="0"/>
              </a:spcAft>
              <a:buNone/>
            </a:pPr>
            <a:r>
              <a:t/>
            </a:r>
            <a:endParaRPr sz="1300">
              <a:solidFill>
                <a:schemeClr val="dk1"/>
              </a:solidFill>
            </a:endParaRPr>
          </a:p>
          <a:p>
            <a:pPr indent="0" lvl="0" marL="0" rtl="0" algn="just">
              <a:lnSpc>
                <a:spcPct val="95000"/>
              </a:lnSpc>
              <a:spcBef>
                <a:spcPts val="1200"/>
              </a:spcBef>
              <a:spcAft>
                <a:spcPts val="1200"/>
              </a:spcAft>
              <a:buSzPts val="852"/>
              <a:buNone/>
            </a:pPr>
            <a:r>
              <a:t/>
            </a:r>
            <a:endParaRPr sz="1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292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Low level Design</a:t>
            </a:r>
            <a:endParaRPr/>
          </a:p>
        </p:txBody>
      </p:sp>
      <p:sp>
        <p:nvSpPr>
          <p:cNvPr id="91" name="Google Shape;91;p19"/>
          <p:cNvSpPr txBox="1"/>
          <p:nvPr>
            <p:ph idx="1" type="body"/>
          </p:nvPr>
        </p:nvSpPr>
        <p:spPr>
          <a:xfrm>
            <a:off x="311700" y="9528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GB" sz="1200">
                <a:solidFill>
                  <a:schemeClr val="dk1"/>
                </a:solidFill>
              </a:rPr>
              <a:t>The Decoder begins with an embedding layer for target tokens and also contains</a:t>
            </a:r>
            <a:br>
              <a:rPr lang="en-GB" sz="1200">
                <a:solidFill>
                  <a:schemeClr val="dk1"/>
                </a:solidFill>
              </a:rPr>
            </a:br>
            <a:r>
              <a:rPr lang="en-GB" sz="1200">
                <a:solidFill>
                  <a:schemeClr val="dk1"/>
                </a:solidFill>
              </a:rPr>
              <a:t> 6 layers with:</a:t>
            </a:r>
            <a:br>
              <a:rPr lang="en-GB" sz="1200">
                <a:solidFill>
                  <a:schemeClr val="dk1"/>
                </a:solidFill>
              </a:rPr>
            </a:br>
            <a:endParaRPr sz="1200">
              <a:solidFill>
                <a:schemeClr val="dk1"/>
              </a:solidFill>
            </a:endParaRPr>
          </a:p>
          <a:p>
            <a:pPr indent="-304800" lvl="0" marL="457200" rtl="0" algn="l">
              <a:spcBef>
                <a:spcPts val="1200"/>
              </a:spcBef>
              <a:spcAft>
                <a:spcPts val="0"/>
              </a:spcAft>
              <a:buClr>
                <a:schemeClr val="dk1"/>
              </a:buClr>
              <a:buSzPts val="1200"/>
              <a:buChar char="●"/>
            </a:pPr>
            <a:r>
              <a:rPr lang="en-GB" sz="1200">
                <a:solidFill>
                  <a:schemeClr val="dk1"/>
                </a:solidFill>
              </a:rPr>
              <a:t>Masked Self-Attention</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Cross-Attention over encoder outputs</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Feed Forward Network (FFN)</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Layer Normalization</a:t>
            </a:r>
            <a:br>
              <a:rPr lang="en-GB" sz="1200">
                <a:solidFill>
                  <a:schemeClr val="dk1"/>
                </a:solidFill>
              </a:rPr>
            </a:br>
            <a:r>
              <a:rPr lang="en-GB" sz="1200">
                <a:solidFill>
                  <a:schemeClr val="dk1"/>
                </a:solidFill>
              </a:rPr>
              <a:t>This structure enables step-by-step text generation aligned with the gesture context.</a:t>
            </a:r>
            <a:br>
              <a:rPr lang="en-GB" sz="1200">
                <a:solidFill>
                  <a:schemeClr val="dk1"/>
                </a:solidFill>
              </a:rPr>
            </a:br>
            <a:endParaRPr sz="1200">
              <a:solidFill>
                <a:schemeClr val="dk1"/>
              </a:solidFill>
            </a:endParaRPr>
          </a:p>
          <a:p>
            <a:pPr indent="0" lvl="0" marL="0" rtl="0" algn="l">
              <a:spcBef>
                <a:spcPts val="1200"/>
              </a:spcBef>
              <a:spcAft>
                <a:spcPts val="0"/>
              </a:spcAft>
              <a:buClr>
                <a:schemeClr val="dk1"/>
              </a:buClr>
              <a:buSzPts val="1100"/>
              <a:buFont typeface="Arial"/>
              <a:buNone/>
            </a:pPr>
            <a:r>
              <a:rPr lang="en-GB" sz="1200">
                <a:solidFill>
                  <a:schemeClr val="dk1"/>
                </a:solidFill>
              </a:rPr>
              <a:t>A final Linear + Softmax layer converts decoder outputs into vocabulary probabilities and produces the English translation token by token.</a:t>
            </a:r>
            <a:endParaRPr sz="1200">
              <a:solidFill>
                <a:schemeClr val="dk1"/>
              </a:solidFill>
            </a:endParaRPr>
          </a:p>
          <a:p>
            <a:pPr indent="0" lvl="0" marL="0" rtl="0" algn="l">
              <a:lnSpc>
                <a:spcPct val="95000"/>
              </a:lnSpc>
              <a:spcBef>
                <a:spcPts val="0"/>
              </a:spcBef>
              <a:spcAft>
                <a:spcPts val="1200"/>
              </a:spcAft>
              <a:buSzPts val="275"/>
              <a:buNone/>
            </a:pPr>
            <a:r>
              <a:t/>
            </a:r>
            <a:endParaRPr sz="1217">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Algorithms</a:t>
            </a:r>
            <a:endParaRPr/>
          </a:p>
        </p:txBody>
      </p:sp>
      <p:sp>
        <p:nvSpPr>
          <p:cNvPr id="97" name="Google Shape;97;p20"/>
          <p:cNvSpPr txBox="1"/>
          <p:nvPr>
            <p:ph idx="1" type="body"/>
          </p:nvPr>
        </p:nvSpPr>
        <p:spPr>
          <a:xfrm>
            <a:off x="311700" y="141862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AutoNum type="arabicPeriod"/>
            </a:pPr>
            <a:r>
              <a:rPr lang="en-GB" sz="1100">
                <a:solidFill>
                  <a:schemeClr val="dk1"/>
                </a:solidFill>
              </a:rPr>
              <a:t>Pose keypoints are extracted from video frames using </a:t>
            </a:r>
            <a:r>
              <a:rPr b="1" lang="en-GB" sz="1100">
                <a:solidFill>
                  <a:schemeClr val="dk1"/>
                </a:solidFill>
              </a:rPr>
              <a:t>MediaPipe</a:t>
            </a:r>
            <a:r>
              <a:rPr lang="en-GB" sz="1100">
                <a:solidFill>
                  <a:schemeClr val="dk1"/>
                </a:solidFill>
              </a:rPr>
              <a:t>, producing structured skeletal coordinates.</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A sliding buffer collects </a:t>
            </a:r>
            <a:r>
              <a:rPr b="1" lang="en-GB" sz="1100">
                <a:solidFill>
                  <a:schemeClr val="dk1"/>
                </a:solidFill>
              </a:rPr>
              <a:t>120 consecutive frames</a:t>
            </a:r>
            <a:r>
              <a:rPr lang="en-GB" sz="1100">
                <a:solidFill>
                  <a:schemeClr val="dk1"/>
                </a:solidFill>
              </a:rPr>
              <a:t>, forming a tensor of shape </a:t>
            </a:r>
            <a:r>
              <a:rPr b="1" lang="en-GB" sz="1100">
                <a:solidFill>
                  <a:schemeClr val="dk1"/>
                </a:solidFill>
              </a:rPr>
              <a:t>(120, 297)</a:t>
            </a:r>
            <a:r>
              <a:rPr lang="en-GB" sz="1100">
                <a:solidFill>
                  <a:schemeClr val="dk1"/>
                </a:solidFill>
              </a:rPr>
              <a:t>.</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The encoder processes this tensor and produces a </a:t>
            </a:r>
            <a:r>
              <a:rPr b="1" lang="en-GB" sz="1100">
                <a:solidFill>
                  <a:schemeClr val="dk1"/>
                </a:solidFill>
              </a:rPr>
              <a:t>384-dimensional memory representation</a:t>
            </a:r>
            <a:r>
              <a:rPr lang="en-GB" sz="1100">
                <a:solidFill>
                  <a:schemeClr val="dk1"/>
                </a:solidFill>
              </a:rPr>
              <a:t> for the entire sign sequence.</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The decoder begins with a </a:t>
            </a:r>
            <a:r>
              <a:rPr b="1" lang="en-GB" sz="1100">
                <a:solidFill>
                  <a:schemeClr val="dk1"/>
                </a:solidFill>
              </a:rPr>
              <a:t>[START]</a:t>
            </a:r>
            <a:r>
              <a:rPr lang="en-GB" sz="1100">
                <a:solidFill>
                  <a:schemeClr val="dk1"/>
                </a:solidFill>
              </a:rPr>
              <a:t> token and generates English tokens step-by-step using </a:t>
            </a:r>
            <a:r>
              <a:rPr b="1" lang="en-GB" sz="1100">
                <a:solidFill>
                  <a:schemeClr val="dk1"/>
                </a:solidFill>
              </a:rPr>
              <a:t>cross-attention</a:t>
            </a:r>
            <a:r>
              <a:rPr lang="en-GB" sz="1100">
                <a:solidFill>
                  <a:schemeClr val="dk1"/>
                </a:solidFill>
              </a:rPr>
              <a:t> over the encoder memory.</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lang="en-GB" sz="1100">
                <a:solidFill>
                  <a:schemeClr val="dk1"/>
                </a:solidFill>
              </a:rPr>
              <a:t>A final </a:t>
            </a:r>
            <a:r>
              <a:rPr b="1" lang="en-GB" sz="1100">
                <a:solidFill>
                  <a:schemeClr val="dk1"/>
                </a:solidFill>
              </a:rPr>
              <a:t>softmax layer</a:t>
            </a:r>
            <a:r>
              <a:rPr lang="en-GB" sz="1100">
                <a:solidFill>
                  <a:schemeClr val="dk1"/>
                </a:solidFill>
              </a:rPr>
              <a:t> converts decoder outputs into English words, forming the translated sentence.</a:t>
            </a:r>
            <a:endParaRPr sz="1100">
              <a:solidFill>
                <a:schemeClr val="dk1"/>
              </a:solidFill>
            </a:endParaRPr>
          </a:p>
          <a:p>
            <a:pPr indent="0" lvl="0" marL="457200" rtl="0" algn="l">
              <a:spcBef>
                <a:spcPts val="1200"/>
              </a:spcBef>
              <a:spcAft>
                <a:spcPts val="1200"/>
              </a:spcAft>
              <a:buNone/>
            </a:pPr>
            <a:r>
              <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Code Snippet</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4" name="Google Shape;104;p21"/>
          <p:cNvPicPr preferRelativeResize="0"/>
          <p:nvPr/>
        </p:nvPicPr>
        <p:blipFill>
          <a:blip r:embed="rId3">
            <a:alphaModFix/>
          </a:blip>
          <a:stretch>
            <a:fillRect/>
          </a:stretch>
        </p:blipFill>
        <p:spPr>
          <a:xfrm>
            <a:off x="311703" y="1017725"/>
            <a:ext cx="5822001" cy="38481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Dataset</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GB" sz="1200">
                <a:solidFill>
                  <a:schemeClr val="dk1"/>
                </a:solidFill>
              </a:rPr>
              <a:t>The iSign dataset (ISIGN v1.1) is a large-scale Indian Sign Language (ISL) dataset containing 127,236 video samples recorded across multiple signers and environments.</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Each sample represents an isolated ISL word or short phrase, designed for training pose-based sign-language recognition and translation models.</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The dataset includes full-body skeletal keypoints, extracted using MediaPipe/OpenPose-style landmark systems. From these landmarks, a 297-dimensional feature vector per frame is derived, capturing x, y, z coordinates and visibility information.</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Every video is converted into a sequence of these 297-dimensional vectors, enabling models to learn purely from pose skeleton data without requiring RGB frames</a:t>
            </a:r>
            <a:endParaRPr sz="1200">
              <a:solidFill>
                <a:schemeClr val="dk1"/>
              </a:solidFill>
            </a:endParaRPr>
          </a:p>
          <a:p>
            <a:pPr indent="0" lvl="0" marL="457200" rtl="0" algn="l">
              <a:spcBef>
                <a:spcPts val="1200"/>
              </a:spcBef>
              <a:spcAft>
                <a:spcPts val="1200"/>
              </a:spcAft>
              <a:buNone/>
            </a:pPr>
            <a:r>
              <a:t/>
            </a:r>
            <a:endParaRPr sz="1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Programming Style</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299085" lvl="0" marL="457200" rtl="0" algn="l">
              <a:spcBef>
                <a:spcPts val="0"/>
              </a:spcBef>
              <a:spcAft>
                <a:spcPts val="0"/>
              </a:spcAft>
              <a:buClr>
                <a:schemeClr val="dk1"/>
              </a:buClr>
              <a:buSzPct val="100000"/>
              <a:buChar char="●"/>
            </a:pPr>
            <a:r>
              <a:rPr lang="en-GB" sz="1200">
                <a:solidFill>
                  <a:schemeClr val="dk1"/>
                </a:solidFill>
              </a:rPr>
              <a:t>The project follows a modular programming style, separating data preprocessing, model definition, training loop, and inference stages.</a:t>
            </a:r>
            <a:br>
              <a:rPr lang="en-GB" sz="1200">
                <a:solidFill>
                  <a:schemeClr val="dk1"/>
                </a:solidFill>
              </a:rPr>
            </a:br>
            <a:endParaRPr sz="1200">
              <a:solidFill>
                <a:schemeClr val="dk1"/>
              </a:solidFill>
            </a:endParaRPr>
          </a:p>
          <a:p>
            <a:pPr indent="-299085" lvl="0" marL="457200" rtl="0" algn="l">
              <a:spcBef>
                <a:spcPts val="0"/>
              </a:spcBef>
              <a:spcAft>
                <a:spcPts val="0"/>
              </a:spcAft>
              <a:buClr>
                <a:schemeClr val="dk1"/>
              </a:buClr>
              <a:buSzPct val="100000"/>
              <a:buChar char="●"/>
            </a:pPr>
            <a:r>
              <a:rPr lang="en-GB" sz="1200">
                <a:solidFill>
                  <a:schemeClr val="dk1"/>
                </a:solidFill>
              </a:rPr>
              <a:t>The model is built using Keras Functional API, ensuring clarity, reusability, and explicit flow of tensors through layers.</a:t>
            </a:r>
            <a:br>
              <a:rPr lang="en-GB" sz="1200">
                <a:solidFill>
                  <a:schemeClr val="dk1"/>
                </a:solidFill>
              </a:rPr>
            </a:br>
            <a:endParaRPr sz="1200">
              <a:solidFill>
                <a:schemeClr val="dk1"/>
              </a:solidFill>
            </a:endParaRPr>
          </a:p>
          <a:p>
            <a:pPr indent="-299085" lvl="0" marL="457200" rtl="0" algn="l">
              <a:spcBef>
                <a:spcPts val="0"/>
              </a:spcBef>
              <a:spcAft>
                <a:spcPts val="0"/>
              </a:spcAft>
              <a:buClr>
                <a:schemeClr val="dk1"/>
              </a:buClr>
              <a:buSzPct val="100000"/>
              <a:buChar char="●"/>
            </a:pPr>
            <a:r>
              <a:rPr lang="en-GB" sz="1200">
                <a:solidFill>
                  <a:schemeClr val="dk1"/>
                </a:solidFill>
              </a:rPr>
              <a:t>All components (Encoder, Decoder, Cross-Attention, Softmax Head) are implemented as understandable blocks rather than using pre-built transformer APIs, ensuring transparency and full control.</a:t>
            </a:r>
            <a:br>
              <a:rPr lang="en-GB" sz="1200">
                <a:solidFill>
                  <a:schemeClr val="dk1"/>
                </a:solidFill>
              </a:rPr>
            </a:br>
            <a:endParaRPr sz="1200">
              <a:solidFill>
                <a:schemeClr val="dk1"/>
              </a:solidFill>
            </a:endParaRPr>
          </a:p>
          <a:p>
            <a:pPr indent="-299085" lvl="0" marL="457200" rtl="0" algn="l">
              <a:spcBef>
                <a:spcPts val="0"/>
              </a:spcBef>
              <a:spcAft>
                <a:spcPts val="0"/>
              </a:spcAft>
              <a:buSzPct val="100000"/>
              <a:buChar char="●"/>
            </a:pPr>
            <a:r>
              <a:rPr lang="en-GB" sz="1200">
                <a:solidFill>
                  <a:schemeClr val="dk1"/>
                </a:solidFill>
              </a:rPr>
              <a:t>Naming conventions (</a:t>
            </a:r>
            <a:r>
              <a:rPr lang="en-GB" sz="1200">
                <a:solidFill>
                  <a:srgbClr val="188038"/>
                </a:solidFill>
                <a:latin typeface="Roboto Mono"/>
                <a:ea typeface="Roboto Mono"/>
                <a:cs typeface="Roboto Mono"/>
                <a:sym typeface="Roboto Mono"/>
              </a:rPr>
              <a:t>pose_input</a:t>
            </a:r>
            <a:r>
              <a:rPr lang="en-GB" sz="1200">
                <a:solidFill>
                  <a:schemeClr val="dk1"/>
                </a:solidFill>
              </a:rPr>
              <a:t>, </a:t>
            </a:r>
            <a:r>
              <a:rPr lang="en-GB" sz="1200">
                <a:solidFill>
                  <a:srgbClr val="188038"/>
                </a:solidFill>
                <a:latin typeface="Roboto Mono"/>
                <a:ea typeface="Roboto Mono"/>
                <a:cs typeface="Roboto Mono"/>
                <a:sym typeface="Roboto Mono"/>
              </a:rPr>
              <a:t>text_input</a:t>
            </a:r>
            <a:r>
              <a:rPr lang="en-GB" sz="1200">
                <a:solidFill>
                  <a:schemeClr val="dk1"/>
                </a:solidFill>
              </a:rPr>
              <a:t>, </a:t>
            </a:r>
            <a:r>
              <a:rPr lang="en-GB" sz="1200">
                <a:solidFill>
                  <a:srgbClr val="188038"/>
                </a:solidFill>
                <a:latin typeface="Roboto Mono"/>
                <a:ea typeface="Roboto Mono"/>
                <a:cs typeface="Roboto Mono"/>
                <a:sym typeface="Roboto Mono"/>
              </a:rPr>
              <a:t>memory</a:t>
            </a:r>
            <a:r>
              <a:rPr lang="en-GB" sz="1200">
                <a:solidFill>
                  <a:schemeClr val="dk1"/>
                </a:solidFill>
              </a:rPr>
              <a:t>, etc.) follow clean-code principles for readability.</a:t>
            </a:r>
            <a:br>
              <a:rPr lang="en-GB" sz="1200">
                <a:solidFill>
                  <a:schemeClr val="dk1"/>
                </a:solidFill>
              </a:rPr>
            </a:br>
            <a:endParaRPr sz="1200">
              <a:solidFill>
                <a:schemeClr val="dk1"/>
              </a:solidFill>
            </a:endParaRPr>
          </a:p>
          <a:p>
            <a:pPr indent="-299085" lvl="0" marL="457200" rtl="0" algn="l">
              <a:spcBef>
                <a:spcPts val="0"/>
              </a:spcBef>
              <a:spcAft>
                <a:spcPts val="0"/>
              </a:spcAft>
              <a:buClr>
                <a:schemeClr val="dk1"/>
              </a:buClr>
              <a:buSzPct val="100000"/>
              <a:buChar char="●"/>
            </a:pPr>
            <a:r>
              <a:rPr lang="en-GB" sz="1200">
                <a:solidFill>
                  <a:schemeClr val="dk1"/>
                </a:solidFill>
              </a:rPr>
              <a:t>Ethical programming practices include:</a:t>
            </a:r>
            <a:br>
              <a:rPr lang="en-GB" sz="1200">
                <a:solidFill>
                  <a:schemeClr val="dk1"/>
                </a:solidFill>
              </a:rPr>
            </a:br>
            <a:endParaRPr sz="1200">
              <a:solidFill>
                <a:schemeClr val="dk1"/>
              </a:solidFill>
            </a:endParaRPr>
          </a:p>
          <a:p>
            <a:pPr indent="-299085" lvl="0" marL="457200" rtl="0" algn="l">
              <a:spcBef>
                <a:spcPts val="0"/>
              </a:spcBef>
              <a:spcAft>
                <a:spcPts val="0"/>
              </a:spcAft>
              <a:buClr>
                <a:schemeClr val="dk1"/>
              </a:buClr>
              <a:buSzPct val="100000"/>
              <a:buChar char="●"/>
            </a:pPr>
            <a:r>
              <a:rPr lang="en-GB" sz="1200">
                <a:solidFill>
                  <a:schemeClr val="dk1"/>
                </a:solidFill>
              </a:rPr>
              <a:t>Using pose keypoints instead of raw video frames to ensure privacy protection.</a:t>
            </a:r>
            <a:br>
              <a:rPr lang="en-GB" sz="1200">
                <a:solidFill>
                  <a:schemeClr val="dk1"/>
                </a:solidFill>
              </a:rPr>
            </a:br>
            <a:endParaRPr sz="1200">
              <a:solidFill>
                <a:schemeClr val="dk1"/>
              </a:solidFill>
            </a:endParaRPr>
          </a:p>
          <a:p>
            <a:pPr indent="-299085" lvl="0" marL="457200" rtl="0" algn="l">
              <a:spcBef>
                <a:spcPts val="0"/>
              </a:spcBef>
              <a:spcAft>
                <a:spcPts val="0"/>
              </a:spcAft>
              <a:buClr>
                <a:schemeClr val="dk1"/>
              </a:buClr>
              <a:buSzPct val="100000"/>
              <a:buChar char="●"/>
            </a:pPr>
            <a:r>
              <a:rPr lang="en-GB" sz="1200">
                <a:solidFill>
                  <a:schemeClr val="dk1"/>
                </a:solidFill>
              </a:rPr>
              <a:t>Ensuring dataset usage follows academic guidelines.</a:t>
            </a:r>
            <a:br>
              <a:rPr lang="en-GB" sz="1200">
                <a:solidFill>
                  <a:schemeClr val="dk1"/>
                </a:solidFill>
              </a:rPr>
            </a:br>
            <a:endParaRPr sz="1200">
              <a:solidFill>
                <a:schemeClr val="dk1"/>
              </a:solidFill>
            </a:endParaRPr>
          </a:p>
          <a:p>
            <a:pPr indent="-299085" lvl="0" marL="457200" rtl="0" algn="l">
              <a:spcBef>
                <a:spcPts val="0"/>
              </a:spcBef>
              <a:spcAft>
                <a:spcPts val="0"/>
              </a:spcAft>
              <a:buClr>
                <a:schemeClr val="dk1"/>
              </a:buClr>
              <a:buSzPct val="100000"/>
              <a:buChar char="●"/>
            </a:pPr>
            <a:r>
              <a:rPr lang="en-GB" sz="1200">
                <a:solidFill>
                  <a:schemeClr val="dk1"/>
                </a:solidFill>
              </a:rPr>
              <a:t>Avoiding any facial identity data storage or visual tracking that could violate user privacy.</a:t>
            </a:r>
            <a:endParaRPr sz="1200">
              <a:solidFill>
                <a:schemeClr val="dk1"/>
              </a:solidFill>
            </a:endParaRPr>
          </a:p>
          <a:p>
            <a:pPr indent="0" lvl="0" marL="457200" rtl="0" algn="l">
              <a:spcBef>
                <a:spcPts val="1200"/>
              </a:spcBef>
              <a:spcAft>
                <a:spcPts val="1200"/>
              </a:spcAft>
              <a:buNone/>
            </a:pPr>
            <a:r>
              <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264175" y="22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Techniques used:</a:t>
            </a:r>
            <a:endParaRPr/>
          </a:p>
        </p:txBody>
      </p:sp>
      <p:sp>
        <p:nvSpPr>
          <p:cNvPr id="122" name="Google Shape;122;p24"/>
          <p:cNvSpPr txBox="1"/>
          <p:nvPr>
            <p:ph idx="1" type="body"/>
          </p:nvPr>
        </p:nvSpPr>
        <p:spPr>
          <a:xfrm>
            <a:off x="264175" y="863550"/>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852"/>
              <a:buFont typeface="Arial"/>
              <a:buNone/>
            </a:pPr>
            <a:r>
              <a:rPr b="1" lang="en-GB" sz="1152">
                <a:solidFill>
                  <a:schemeClr val="dk1"/>
                </a:solidFill>
              </a:rPr>
              <a:t>Pose Extraction:</a:t>
            </a:r>
            <a:r>
              <a:rPr lang="en-GB" sz="1152">
                <a:solidFill>
                  <a:schemeClr val="dk1"/>
                </a:solidFill>
              </a:rPr>
              <a:t> MediaPipe keypoint detector, converted to </a:t>
            </a:r>
            <a:r>
              <a:rPr lang="en-GB" sz="1152">
                <a:solidFill>
                  <a:srgbClr val="188038"/>
                </a:solidFill>
                <a:latin typeface="Roboto Mono"/>
                <a:ea typeface="Roboto Mono"/>
                <a:cs typeface="Roboto Mono"/>
                <a:sym typeface="Roboto Mono"/>
              </a:rPr>
              <a:t>.npy</a:t>
            </a:r>
            <a:r>
              <a:rPr lang="en-GB" sz="1152">
                <a:solidFill>
                  <a:schemeClr val="dk1"/>
                </a:solidFill>
              </a:rPr>
              <a:t> arrays.</a:t>
            </a:r>
            <a:br>
              <a:rPr lang="en-GB" sz="1152">
                <a:solidFill>
                  <a:schemeClr val="dk1"/>
                </a:solidFill>
              </a:rPr>
            </a:b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Sequence Modeling:</a:t>
            </a:r>
            <a:r>
              <a:rPr lang="en-GB" sz="1152">
                <a:solidFill>
                  <a:schemeClr val="dk1"/>
                </a:solidFill>
              </a:rPr>
              <a:t> Transformer Encoder–Decoder with 6 layers each.</a:t>
            </a:r>
            <a:br>
              <a:rPr lang="en-GB" sz="1152">
                <a:solidFill>
                  <a:schemeClr val="dk1"/>
                </a:solidFill>
              </a:rPr>
            </a:b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Attention Mechanisms:</a:t>
            </a:r>
            <a:br>
              <a:rPr b="1" lang="en-GB" sz="1152">
                <a:solidFill>
                  <a:schemeClr val="dk1"/>
                </a:solidFill>
              </a:rPr>
            </a:br>
            <a:endParaRPr b="1" sz="1152">
              <a:solidFill>
                <a:schemeClr val="dk1"/>
              </a:solidFill>
            </a:endParaRPr>
          </a:p>
          <a:p>
            <a:pPr indent="-301783" lvl="0" marL="457200" rtl="0" algn="l">
              <a:lnSpc>
                <a:spcPct val="95000"/>
              </a:lnSpc>
              <a:spcBef>
                <a:spcPts val="1200"/>
              </a:spcBef>
              <a:spcAft>
                <a:spcPts val="0"/>
              </a:spcAft>
              <a:buClr>
                <a:schemeClr val="dk1"/>
              </a:buClr>
              <a:buSzPts val="1153"/>
              <a:buChar char="●"/>
            </a:pPr>
            <a:r>
              <a:rPr lang="en-GB" sz="1152">
                <a:solidFill>
                  <a:schemeClr val="dk1"/>
                </a:solidFill>
              </a:rPr>
              <a:t>Multi-Head Self-Attention for context learning</a:t>
            </a:r>
            <a:br>
              <a:rPr lang="en-GB" sz="1152">
                <a:solidFill>
                  <a:schemeClr val="dk1"/>
                </a:solidFill>
              </a:rPr>
            </a:br>
            <a:endParaRPr sz="1152">
              <a:solidFill>
                <a:schemeClr val="dk1"/>
              </a:solidFill>
            </a:endParaRPr>
          </a:p>
          <a:p>
            <a:pPr indent="-301783" lvl="0" marL="457200" rtl="0" algn="l">
              <a:lnSpc>
                <a:spcPct val="95000"/>
              </a:lnSpc>
              <a:spcBef>
                <a:spcPts val="0"/>
              </a:spcBef>
              <a:spcAft>
                <a:spcPts val="0"/>
              </a:spcAft>
              <a:buClr>
                <a:schemeClr val="dk1"/>
              </a:buClr>
              <a:buSzPts val="1153"/>
              <a:buChar char="●"/>
            </a:pPr>
            <a:r>
              <a:rPr lang="en-GB" sz="1152">
                <a:solidFill>
                  <a:schemeClr val="dk1"/>
                </a:solidFill>
              </a:rPr>
              <a:t>Masked Self-Attention for autoregressive decoding</a:t>
            </a:r>
            <a:br>
              <a:rPr lang="en-GB" sz="1152">
                <a:solidFill>
                  <a:schemeClr val="dk1"/>
                </a:solidFill>
              </a:rPr>
            </a:br>
            <a:endParaRPr sz="1152">
              <a:solidFill>
                <a:schemeClr val="dk1"/>
              </a:solidFill>
            </a:endParaRPr>
          </a:p>
          <a:p>
            <a:pPr indent="-301783" lvl="0" marL="457200" rtl="0" algn="l">
              <a:lnSpc>
                <a:spcPct val="95000"/>
              </a:lnSpc>
              <a:spcBef>
                <a:spcPts val="0"/>
              </a:spcBef>
              <a:spcAft>
                <a:spcPts val="0"/>
              </a:spcAft>
              <a:buClr>
                <a:schemeClr val="dk1"/>
              </a:buClr>
              <a:buSzPts val="1153"/>
              <a:buChar char="●"/>
            </a:pPr>
            <a:r>
              <a:rPr lang="en-GB" sz="1152">
                <a:solidFill>
                  <a:schemeClr val="dk1"/>
                </a:solidFill>
              </a:rPr>
              <a:t>Cross-Attention for alignment between pose and text</a:t>
            </a:r>
            <a:br>
              <a:rPr lang="en-GB" sz="1152">
                <a:solidFill>
                  <a:schemeClr val="dk1"/>
                </a:solidFill>
              </a:rPr>
            </a:br>
            <a:endParaRPr sz="1152">
              <a:solidFill>
                <a:schemeClr val="dk1"/>
              </a:solidFill>
            </a:endParaRPr>
          </a:p>
          <a:p>
            <a:pPr indent="0" lvl="0" marL="0" rtl="0" algn="l">
              <a:lnSpc>
                <a:spcPct val="95000"/>
              </a:lnSpc>
              <a:spcBef>
                <a:spcPts val="1200"/>
              </a:spcBef>
              <a:spcAft>
                <a:spcPts val="0"/>
              </a:spcAft>
              <a:buSzPts val="852"/>
              <a:buNone/>
            </a:pPr>
            <a:r>
              <a:rPr b="1" lang="en-GB" sz="1152">
                <a:solidFill>
                  <a:schemeClr val="dk1"/>
                </a:solidFill>
              </a:rPr>
              <a:t>Regularization:</a:t>
            </a:r>
            <a:r>
              <a:rPr lang="en-GB" sz="1152">
                <a:solidFill>
                  <a:schemeClr val="dk1"/>
                </a:solidFill>
              </a:rPr>
              <a:t> Dropout 0.1 inside encoder &amp; decoder.</a:t>
            </a:r>
            <a:endParaRPr sz="1152">
              <a:solidFill>
                <a:schemeClr val="dk1"/>
              </a:solidFill>
            </a:endParaRPr>
          </a:p>
          <a:p>
            <a:pPr indent="0" lvl="0" marL="0" rtl="0" algn="l">
              <a:lnSpc>
                <a:spcPct val="95000"/>
              </a:lnSpc>
              <a:spcBef>
                <a:spcPts val="0"/>
              </a:spcBef>
              <a:spcAft>
                <a:spcPts val="0"/>
              </a:spcAft>
              <a:buClr>
                <a:schemeClr val="dk1"/>
              </a:buClr>
              <a:buSzPts val="852"/>
              <a:buFont typeface="Arial"/>
              <a:buNone/>
            </a:pPr>
            <a:br>
              <a:rPr lang="en-GB" sz="1152">
                <a:solidFill>
                  <a:schemeClr val="dk1"/>
                </a:solidFill>
              </a:rPr>
            </a:br>
            <a:endParaRPr sz="1152">
              <a:solidFill>
                <a:schemeClr val="dk1"/>
              </a:solidFill>
            </a:endParaRPr>
          </a:p>
          <a:p>
            <a:pPr indent="0" lvl="0" marL="0" rtl="0" algn="l">
              <a:lnSpc>
                <a:spcPct val="95000"/>
              </a:lnSpc>
              <a:spcBef>
                <a:spcPts val="0"/>
              </a:spcBef>
              <a:spcAft>
                <a:spcPts val="0"/>
              </a:spcAft>
              <a:buSzPts val="852"/>
              <a:buNone/>
            </a:pPr>
            <a:r>
              <a:rPr b="1" lang="en-GB" sz="1152">
                <a:solidFill>
                  <a:schemeClr val="dk1"/>
                </a:solidFill>
              </a:rPr>
              <a:t>Optimization:</a:t>
            </a:r>
            <a:r>
              <a:rPr lang="en-GB" sz="1152">
                <a:solidFill>
                  <a:schemeClr val="dk1"/>
                </a:solidFill>
              </a:rPr>
              <a:t> Adam, teacher forcing, gradient descent, and cross-entropy loss.</a:t>
            </a:r>
            <a:br>
              <a:rPr lang="en-GB" sz="1152">
                <a:solidFill>
                  <a:schemeClr val="dk1"/>
                </a:solidFill>
              </a:rPr>
            </a:b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Tokenizer &amp; Vocabulary:</a:t>
            </a:r>
            <a:r>
              <a:rPr lang="en-GB" sz="1152">
                <a:solidFill>
                  <a:schemeClr val="dk1"/>
                </a:solidFill>
              </a:rPr>
              <a:t> 68k token vocabulary built from iSign v1.1 dataset.</a:t>
            </a:r>
            <a:endParaRPr sz="1152">
              <a:solidFill>
                <a:schemeClr val="dk1"/>
              </a:solidFill>
            </a:endParaRPr>
          </a:p>
          <a:p>
            <a:pPr indent="0" lvl="0" marL="0" rtl="0" algn="l">
              <a:lnSpc>
                <a:spcPct val="95000"/>
              </a:lnSpc>
              <a:spcBef>
                <a:spcPts val="1200"/>
              </a:spcBef>
              <a:spcAft>
                <a:spcPts val="1200"/>
              </a:spcAft>
              <a:buSzPts val="852"/>
              <a:buNone/>
            </a:pPr>
            <a:r>
              <a:t/>
            </a:r>
            <a:endParaRPr sz="1695"/>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311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Model Architecture</a:t>
            </a:r>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9" name="Google Shape;129;p25"/>
          <p:cNvPicPr preferRelativeResize="0"/>
          <p:nvPr/>
        </p:nvPicPr>
        <p:blipFill>
          <a:blip r:embed="rId3">
            <a:alphaModFix/>
          </a:blip>
          <a:stretch>
            <a:fillRect/>
          </a:stretch>
        </p:blipFill>
        <p:spPr>
          <a:xfrm>
            <a:off x="855476" y="973775"/>
            <a:ext cx="7433050" cy="3885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Deployment</a:t>
            </a:r>
            <a:r>
              <a:rPr lang="en-GB"/>
              <a:t> strategy</a:t>
            </a:r>
            <a:endParaRPr/>
          </a:p>
        </p:txBody>
      </p:sp>
      <p:sp>
        <p:nvSpPr>
          <p:cNvPr id="135" name="Google Shape;135;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852"/>
              <a:buFont typeface="Arial"/>
              <a:buNone/>
            </a:pPr>
            <a:r>
              <a:rPr b="1" lang="en-GB" sz="1152">
                <a:solidFill>
                  <a:schemeClr val="dk1"/>
                </a:solidFill>
              </a:rPr>
              <a:t>• Local Edge Execution (Offline)</a:t>
            </a:r>
            <a:endParaRPr b="1" sz="1152">
              <a:solidFill>
                <a:schemeClr val="dk1"/>
              </a:solidFill>
            </a:endParaRPr>
          </a:p>
          <a:p>
            <a:pPr indent="0" lvl="0" marL="0" rtl="0" algn="l">
              <a:lnSpc>
                <a:spcPct val="95000"/>
              </a:lnSpc>
              <a:spcBef>
                <a:spcPts val="1200"/>
              </a:spcBef>
              <a:spcAft>
                <a:spcPts val="0"/>
              </a:spcAft>
              <a:buSzPts val="852"/>
              <a:buNone/>
            </a:pPr>
            <a:r>
              <a:rPr lang="en-GB" sz="1152">
                <a:solidFill>
                  <a:schemeClr val="dk1"/>
                </a:solidFill>
              </a:rPr>
              <a:t>Runs fully on laptop/PC using OpenCV, MediaPipe Holistic, and TensorFlow. No internet required → zero-latency inference.</a:t>
            </a: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 Preprocessing &amp; Landmark Detection</a:t>
            </a:r>
            <a:br>
              <a:rPr b="1" lang="en-GB" sz="1152">
                <a:solidFill>
                  <a:schemeClr val="dk1"/>
                </a:solidFill>
              </a:rPr>
            </a:br>
            <a:r>
              <a:rPr lang="en-GB" sz="1152">
                <a:solidFill>
                  <a:schemeClr val="dk1"/>
                </a:solidFill>
              </a:rPr>
              <a:t> MediaPipe extracts face, pose, and hand landmarks in real time for stable tracking.</a:t>
            </a: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 Keypoint Extraction</a:t>
            </a:r>
            <a:br>
              <a:rPr b="1" lang="en-GB" sz="1152">
                <a:solidFill>
                  <a:schemeClr val="dk1"/>
                </a:solidFill>
              </a:rPr>
            </a:br>
            <a:r>
              <a:rPr lang="en-GB" sz="1152">
                <a:solidFill>
                  <a:schemeClr val="dk1"/>
                </a:solidFill>
              </a:rPr>
              <a:t> Python module converts landmarks into a </a:t>
            </a:r>
            <a:r>
              <a:rPr b="1" lang="en-GB" sz="1152">
                <a:solidFill>
                  <a:schemeClr val="dk1"/>
                </a:solidFill>
              </a:rPr>
              <a:t>297-value keypoint vector</a:t>
            </a:r>
            <a:r>
              <a:rPr lang="en-GB" sz="1152">
                <a:solidFill>
                  <a:schemeClr val="dk1"/>
                </a:solidFill>
              </a:rPr>
              <a:t> per frame for model compatibility.</a:t>
            </a: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 Transformer Model Inference</a:t>
            </a:r>
            <a:br>
              <a:rPr b="1" lang="en-GB" sz="1152">
                <a:solidFill>
                  <a:schemeClr val="dk1"/>
                </a:solidFill>
              </a:rPr>
            </a:br>
            <a:r>
              <a:rPr lang="en-GB" sz="1152">
                <a:solidFill>
                  <a:schemeClr val="dk1"/>
                </a:solidFill>
              </a:rPr>
              <a:t> TensorFlow/Keras model predicts ISL class from extracted keypoints.</a:t>
            </a: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 Smart Fallback Logic</a:t>
            </a:r>
            <a:br>
              <a:rPr b="1" lang="en-GB" sz="1152">
                <a:solidFill>
                  <a:schemeClr val="dk1"/>
                </a:solidFill>
              </a:rPr>
            </a:br>
            <a:r>
              <a:rPr lang="en-GB" sz="1152">
                <a:solidFill>
                  <a:schemeClr val="dk1"/>
                </a:solidFill>
              </a:rPr>
              <a:t> Rule-based predictor generates believable output when hand/face visibility is low.</a:t>
            </a: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 Output Layer</a:t>
            </a:r>
            <a:br>
              <a:rPr b="1" lang="en-GB" sz="1152">
                <a:solidFill>
                  <a:schemeClr val="dk1"/>
                </a:solidFill>
              </a:rPr>
            </a:br>
            <a:r>
              <a:rPr lang="en-GB" sz="1152">
                <a:solidFill>
                  <a:schemeClr val="dk1"/>
                </a:solidFill>
              </a:rPr>
              <a:t> Softmax output produces final English text (e.g., “Hello”, “Thank you”).</a:t>
            </a:r>
            <a:endParaRPr sz="1152">
              <a:solidFill>
                <a:schemeClr val="dk1"/>
              </a:solidFill>
            </a:endParaRPr>
          </a:p>
          <a:p>
            <a:pPr indent="0" lvl="0" marL="0" rtl="0" algn="l">
              <a:lnSpc>
                <a:spcPct val="95000"/>
              </a:lnSpc>
              <a:spcBef>
                <a:spcPts val="1200"/>
              </a:spcBef>
              <a:spcAft>
                <a:spcPts val="0"/>
              </a:spcAft>
              <a:buClr>
                <a:schemeClr val="dk1"/>
              </a:buClr>
              <a:buSzPts val="852"/>
              <a:buFont typeface="Arial"/>
              <a:buNone/>
            </a:pPr>
            <a:r>
              <a:rPr b="1" lang="en-GB" sz="1152">
                <a:solidFill>
                  <a:schemeClr val="dk1"/>
                </a:solidFill>
              </a:rPr>
              <a:t>• Real-Time UI Rendering</a:t>
            </a:r>
            <a:br>
              <a:rPr b="1" lang="en-GB" sz="1152">
                <a:solidFill>
                  <a:schemeClr val="dk1"/>
                </a:solidFill>
              </a:rPr>
            </a:br>
            <a:r>
              <a:rPr lang="en-GB" sz="1152">
                <a:solidFill>
                  <a:schemeClr val="dk1"/>
                </a:solidFill>
              </a:rPr>
              <a:t> OpenCV overlay displays predictions and detected landmarks for clear, live feedback.</a:t>
            </a:r>
            <a:endParaRPr sz="1152">
              <a:solidFill>
                <a:schemeClr val="dk1"/>
              </a:solidFill>
            </a:endParaRPr>
          </a:p>
          <a:p>
            <a:pPr indent="0" lvl="0" marL="0" rtl="0" algn="l">
              <a:lnSpc>
                <a:spcPct val="95000"/>
              </a:lnSpc>
              <a:spcBef>
                <a:spcPts val="1200"/>
              </a:spcBef>
              <a:spcAft>
                <a:spcPts val="1200"/>
              </a:spcAft>
              <a:buSzPts val="852"/>
              <a:buNone/>
            </a:pPr>
            <a:r>
              <a:t/>
            </a:r>
            <a:endParaRPr sz="1452">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Performance</a:t>
            </a:r>
            <a:r>
              <a:rPr lang="en-GB"/>
              <a:t> evaluation</a:t>
            </a:r>
            <a:endParaRPr/>
          </a:p>
        </p:txBody>
      </p:sp>
      <p:sp>
        <p:nvSpPr>
          <p:cNvPr id="141" name="Google Shape;14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7"/>
          <p:cNvPicPr preferRelativeResize="0"/>
          <p:nvPr/>
        </p:nvPicPr>
        <p:blipFill rotWithShape="1">
          <a:blip r:embed="rId3">
            <a:alphaModFix/>
          </a:blip>
          <a:srcRect b="1409" l="455" r="455" t="1389"/>
          <a:stretch/>
        </p:blipFill>
        <p:spPr>
          <a:xfrm>
            <a:off x="589300" y="1083600"/>
            <a:ext cx="7547125" cy="3279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Security Aspects</a:t>
            </a:r>
            <a:endParaRPr/>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GB" sz="1100">
                <a:solidFill>
                  <a:schemeClr val="dk1"/>
                </a:solidFill>
              </a:rPr>
              <a:t>Pose-only data processing</a:t>
            </a:r>
            <a:br>
              <a:rPr lang="en-GB" sz="1100">
                <a:solidFill>
                  <a:schemeClr val="dk1"/>
                </a:solidFill>
              </a:rPr>
            </a:br>
            <a:r>
              <a:rPr lang="en-GB" sz="1100">
                <a:solidFill>
                  <a:schemeClr val="dk1"/>
                </a:solidFill>
              </a:rPr>
              <a:t> The system uses </a:t>
            </a:r>
            <a:r>
              <a:rPr i="1" lang="en-GB" sz="1100">
                <a:solidFill>
                  <a:schemeClr val="dk1"/>
                </a:solidFill>
              </a:rPr>
              <a:t>only skeletal keypoints</a:t>
            </a:r>
            <a:r>
              <a:rPr lang="en-GB" sz="1100">
                <a:solidFill>
                  <a:schemeClr val="dk1"/>
                </a:solidFill>
              </a:rPr>
              <a:t> and does not record or store any facial images or raw video, ensuring a strong privacy-preserving pipeline where identity cannot be reconstructed.</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Local on-device processing</a:t>
            </a:r>
            <a:br>
              <a:rPr lang="en-GB" sz="1100">
                <a:solidFill>
                  <a:schemeClr val="dk1"/>
                </a:solidFill>
              </a:rPr>
            </a:br>
            <a:r>
              <a:rPr lang="en-GB" sz="1100">
                <a:solidFill>
                  <a:schemeClr val="dk1"/>
                </a:solidFill>
              </a:rPr>
              <a:t> All pose extraction and inference operations run locally on the user’s machine, eliminating reliance on cloud servers. This prevents data transmission, reduces security risks, and gives users full control over their information.</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All communication between client and server (webcam → inference API) uses HTTPS encryption to prevent interception or tampering.</a:t>
            </a:r>
            <a:endParaRPr sz="1100">
              <a:solidFill>
                <a:schemeClr val="dk1"/>
              </a:solidFill>
            </a:endParaRPr>
          </a:p>
          <a:p>
            <a:pPr indent="0" lvl="0" marL="457200" rtl="0" algn="l">
              <a:spcBef>
                <a:spcPts val="1200"/>
              </a:spcBef>
              <a:spcAft>
                <a:spcPts val="1200"/>
              </a:spcAft>
              <a:buNone/>
            </a:pPr>
            <a:r>
              <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Student 1 - Dhairya Hindoriya</a:t>
            </a:r>
            <a:endParaRPr/>
          </a:p>
        </p:txBody>
      </p:sp>
      <p:sp>
        <p:nvSpPr>
          <p:cNvPr id="154" name="Google Shape;15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900">
                <a:solidFill>
                  <a:schemeClr val="dk1"/>
                </a:solidFill>
              </a:rPr>
              <a:t>Objective: To preprocess and structure the dataset so the model receives high-quality input.</a:t>
            </a:r>
            <a:endParaRPr sz="1900">
              <a:solidFill>
                <a:schemeClr val="dk1"/>
              </a:solidFill>
            </a:endParaRPr>
          </a:p>
          <a:p>
            <a:pPr indent="0" lvl="0" marL="0" rtl="0" algn="l">
              <a:spcBef>
                <a:spcPts val="1200"/>
              </a:spcBef>
              <a:spcAft>
                <a:spcPts val="0"/>
              </a:spcAft>
              <a:buClr>
                <a:schemeClr val="dk1"/>
              </a:buClr>
              <a:buSzPts val="1100"/>
              <a:buFont typeface="Arial"/>
              <a:buNone/>
            </a:pPr>
            <a:r>
              <a:rPr b="1" lang="en-GB" sz="1200">
                <a:solidFill>
                  <a:schemeClr val="dk1"/>
                </a:solidFill>
              </a:rPr>
              <a:t>Contribution:</a:t>
            </a:r>
            <a:endParaRPr b="1" sz="1200">
              <a:solidFill>
                <a:schemeClr val="dk1"/>
              </a:solidFill>
            </a:endParaRPr>
          </a:p>
          <a:p>
            <a:pPr indent="-304800" lvl="0" marL="457200" rtl="0" algn="l">
              <a:spcBef>
                <a:spcPts val="1200"/>
              </a:spcBef>
              <a:spcAft>
                <a:spcPts val="0"/>
              </a:spcAft>
              <a:buClr>
                <a:schemeClr val="dk1"/>
              </a:buClr>
              <a:buSzPts val="1200"/>
              <a:buChar char="●"/>
            </a:pPr>
            <a:r>
              <a:rPr lang="en-GB" sz="1200">
                <a:solidFill>
                  <a:schemeClr val="dk1"/>
                </a:solidFill>
              </a:rPr>
              <a:t>Designed preprocessing pipeline to convert raw pose files into </a:t>
            </a:r>
            <a:r>
              <a:rPr lang="en-GB" sz="1200">
                <a:solidFill>
                  <a:srgbClr val="188038"/>
                </a:solidFill>
                <a:latin typeface="Roboto Mono"/>
                <a:ea typeface="Roboto Mono"/>
                <a:cs typeface="Roboto Mono"/>
                <a:sym typeface="Roboto Mono"/>
              </a:rPr>
              <a:t>.npy</a:t>
            </a:r>
            <a:r>
              <a:rPr lang="en-GB" sz="1200">
                <a:solidFill>
                  <a:schemeClr val="dk1"/>
                </a:solidFill>
              </a:rPr>
              <a:t> arrays.</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Extracted and normalized </a:t>
            </a:r>
            <a:r>
              <a:rPr b="1" lang="en-GB" sz="1200">
                <a:solidFill>
                  <a:schemeClr val="dk1"/>
                </a:solidFill>
              </a:rPr>
              <a:t>297 pose features per frame</a:t>
            </a:r>
            <a:r>
              <a:rPr lang="en-GB" sz="1200">
                <a:solidFill>
                  <a:schemeClr val="dk1"/>
                </a:solidFill>
              </a:rPr>
              <a:t>.</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Implemented padding, frame alignment (120 frames), and text–pose synchronization.</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Delivered the cleaned dataset used for training the Transformer model.</a:t>
            </a:r>
            <a:endParaRPr sz="1200">
              <a:solidFill>
                <a:schemeClr val="dk1"/>
              </a:solidFill>
            </a:endParaRPr>
          </a:p>
          <a:p>
            <a:pPr indent="0" lvl="0" marL="0" rtl="0" algn="l">
              <a:spcBef>
                <a:spcPts val="1200"/>
              </a:spcBef>
              <a:spcAft>
                <a:spcPts val="1200"/>
              </a:spcAft>
              <a:buNone/>
            </a:pPr>
            <a:r>
              <a:t/>
            </a:r>
            <a:endParaRPr sz="19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Student 2 - Daksha Agrawal</a:t>
            </a:r>
            <a:endParaRPr/>
          </a:p>
        </p:txBody>
      </p:sp>
      <p:sp>
        <p:nvSpPr>
          <p:cNvPr id="160" name="Google Shape;16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solidFill>
                  <a:schemeClr val="dk1"/>
                </a:solidFill>
              </a:rPr>
              <a:t>Objective: To train and optimize the Transformer model for accurate translation of pose sequences.</a:t>
            </a:r>
            <a:br>
              <a:rPr lang="en-GB" sz="2000">
                <a:solidFill>
                  <a:schemeClr val="dk1"/>
                </a:solidFill>
              </a:rPr>
            </a:br>
            <a:r>
              <a:rPr lang="en-GB" sz="1300">
                <a:solidFill>
                  <a:schemeClr val="dk1"/>
                </a:solidFill>
              </a:rPr>
              <a:t>Contribution:</a:t>
            </a:r>
            <a:endParaRPr sz="1300">
              <a:solidFill>
                <a:schemeClr val="dk1"/>
              </a:solidFill>
            </a:endParaRPr>
          </a:p>
          <a:p>
            <a:pPr indent="-311150" lvl="0" marL="457200" rtl="0" algn="l">
              <a:spcBef>
                <a:spcPts val="1200"/>
              </a:spcBef>
              <a:spcAft>
                <a:spcPts val="0"/>
              </a:spcAft>
              <a:buClr>
                <a:schemeClr val="dk1"/>
              </a:buClr>
              <a:buSzPts val="1300"/>
              <a:buChar char="●"/>
            </a:pPr>
            <a:r>
              <a:rPr lang="en-GB" sz="1300">
                <a:solidFill>
                  <a:schemeClr val="dk1"/>
                </a:solidFill>
              </a:rPr>
              <a:t>Implemented the 6-layer Encoder + 6-layer Decoder Transformer model.</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Configured self-attention, cross-attention, embedding layers, and FFN blocks.</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Trained the model using Adam (0.001), dropout, and cross-entropy loss.</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Built the vocabulary (68k tokens) and tokenizer, and generated trained model checkpoints.</a:t>
            </a:r>
            <a:endParaRPr sz="1300">
              <a:solidFill>
                <a:schemeClr val="dk1"/>
              </a:solidFill>
            </a:endParaRPr>
          </a:p>
          <a:p>
            <a:pPr indent="0" lvl="0" marL="0" rtl="0" algn="l">
              <a:spcBef>
                <a:spcPts val="1200"/>
              </a:spcBef>
              <a:spcAft>
                <a:spcPts val="1200"/>
              </a:spcAft>
              <a:buNone/>
            </a:pPr>
            <a:r>
              <a:t/>
            </a:r>
            <a:endParaRPr sz="20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Student 3 - Om Taur</a:t>
            </a:r>
            <a:endParaRPr/>
          </a:p>
        </p:txBody>
      </p:sp>
      <p:sp>
        <p:nvSpPr>
          <p:cNvPr id="166" name="Google Shape;16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solidFill>
                  <a:schemeClr val="dk1"/>
                </a:solidFill>
              </a:rPr>
              <a:t>Objective: To ensure efficient, low-latency prediction suitable for real-time ISL translation.</a:t>
            </a:r>
            <a:br>
              <a:rPr lang="en-GB" sz="2000">
                <a:solidFill>
                  <a:schemeClr val="dk1"/>
                </a:solidFill>
              </a:rPr>
            </a:br>
            <a:r>
              <a:rPr lang="en-GB" sz="1300">
                <a:solidFill>
                  <a:schemeClr val="dk1"/>
                </a:solidFill>
              </a:rPr>
              <a:t>Contribution:</a:t>
            </a:r>
            <a:endParaRPr sz="1300">
              <a:solidFill>
                <a:schemeClr val="dk1"/>
              </a:solidFill>
            </a:endParaRPr>
          </a:p>
          <a:p>
            <a:pPr indent="-311150" lvl="0" marL="457200" rtl="0" algn="l">
              <a:spcBef>
                <a:spcPts val="1200"/>
              </a:spcBef>
              <a:spcAft>
                <a:spcPts val="0"/>
              </a:spcAft>
              <a:buClr>
                <a:schemeClr val="dk1"/>
              </a:buClr>
              <a:buSzPts val="1300"/>
              <a:buChar char="●"/>
            </a:pPr>
            <a:r>
              <a:rPr lang="en-GB" sz="1300">
                <a:solidFill>
                  <a:schemeClr val="dk1"/>
                </a:solidFill>
              </a:rPr>
              <a:t>Built the engine that processes 120-frame pose sequences for real-time prediction.</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Integrated the trained Transformer model into a low-latency inference loop.</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Implemented token decoding, softmax output handling, and text post-processing.</a:t>
            </a:r>
            <a:br>
              <a:rPr lang="en-GB"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Ensured smooth real-time performance and stable translation accuracy.</a:t>
            </a:r>
            <a:endParaRPr sz="1300">
              <a:solidFill>
                <a:schemeClr val="dk1"/>
              </a:solidFill>
            </a:endParaRPr>
          </a:p>
          <a:p>
            <a:pPr indent="0" lvl="0" marL="0" rtl="0" algn="l">
              <a:spcBef>
                <a:spcPts val="1200"/>
              </a:spcBef>
              <a:spcAft>
                <a:spcPts val="1200"/>
              </a:spcAft>
              <a:buNone/>
            </a:pPr>
            <a:r>
              <a:t/>
            </a:r>
            <a:endParaRPr sz="2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Student 4 - Anish Wadkar</a:t>
            </a:r>
            <a:endParaRPr/>
          </a:p>
        </p:txBody>
      </p:sp>
      <p:sp>
        <p:nvSpPr>
          <p:cNvPr id="172" name="Google Shape;172;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chemeClr val="dk1"/>
                </a:solidFill>
              </a:rPr>
              <a:t>Objective: To implement a seamless webcam-based interface for real-time demonstration of the model.</a:t>
            </a:r>
            <a:br>
              <a:rPr lang="en-GB" sz="2100">
                <a:solidFill>
                  <a:schemeClr val="dk1"/>
                </a:solidFill>
              </a:rPr>
            </a:br>
            <a:r>
              <a:rPr lang="en-GB" sz="1400">
                <a:solidFill>
                  <a:schemeClr val="dk1"/>
                </a:solidFill>
              </a:rPr>
              <a:t>Contribution:</a:t>
            </a:r>
            <a:endParaRPr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Developed live webcam application using MediaPipe + OpenCV for pose capture.</a:t>
            </a:r>
            <a:br>
              <a:rPr lang="en-GB"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Connected the real-time inference engine to display translations instantly.</a:t>
            </a:r>
            <a:br>
              <a:rPr lang="en-GB"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Added UI features such as pose skeleton overlay and text output display.</a:t>
            </a:r>
            <a:br>
              <a:rPr lang="en-GB"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Packaged the interface into a usable application for demonstration.</a:t>
            </a:r>
            <a:endParaRPr sz="1400">
              <a:solidFill>
                <a:schemeClr val="dk1"/>
              </a:solidFill>
            </a:endParaRPr>
          </a:p>
          <a:p>
            <a:pPr indent="0" lvl="0" marL="0" rtl="0" algn="l">
              <a:spcBef>
                <a:spcPts val="1200"/>
              </a:spcBef>
              <a:spcAft>
                <a:spcPts val="1200"/>
              </a:spcAft>
              <a:buNone/>
            </a:pPr>
            <a:r>
              <a:t/>
            </a:r>
            <a:endParaRPr sz="2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idx="1" type="body"/>
          </p:nvPr>
        </p:nvSpPr>
        <p:spPr>
          <a:xfrm>
            <a:off x="311700" y="863550"/>
            <a:ext cx="8520600" cy="41163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b="1" lang="en-GB" sz="2282">
                <a:solidFill>
                  <a:schemeClr val="dk1"/>
                </a:solidFill>
              </a:rPr>
              <a:t>Integration of 3D Sign Avatars:</a:t>
            </a:r>
            <a:r>
              <a:rPr lang="en-GB" sz="2282">
                <a:solidFill>
                  <a:schemeClr val="dk1"/>
                </a:solidFill>
              </a:rPr>
              <a:t> Replace 2D animation or static gloss outputs with lifelike 3D sign avatars that perform Indian Sign Language gestures using Unity or Unreal Engine. This provides realism and emotional nuance.</a:t>
            </a:r>
            <a:endParaRPr sz="2282">
              <a:solidFill>
                <a:schemeClr val="dk1"/>
              </a:solidFill>
            </a:endParaRPr>
          </a:p>
          <a:p>
            <a:pPr indent="0" lvl="0" marL="0" rtl="0" algn="l">
              <a:spcBef>
                <a:spcPts val="1200"/>
              </a:spcBef>
              <a:spcAft>
                <a:spcPts val="0"/>
              </a:spcAft>
              <a:buNone/>
            </a:pPr>
            <a:r>
              <a:rPr b="1" lang="en-GB" sz="2282">
                <a:solidFill>
                  <a:schemeClr val="dk1"/>
                </a:solidFill>
              </a:rPr>
              <a:t>Multimodal Learning:</a:t>
            </a:r>
            <a:r>
              <a:rPr lang="en-GB" sz="2282">
                <a:solidFill>
                  <a:schemeClr val="dk1"/>
                </a:solidFill>
              </a:rPr>
              <a:t> Combine hand pose, facial expressions, and body posture recognition to improve semantic accuracy. Sign meaning often depends on subtle facial cues, not just hand movement.</a:t>
            </a:r>
            <a:endParaRPr sz="2282">
              <a:solidFill>
                <a:schemeClr val="dk1"/>
              </a:solidFill>
            </a:endParaRPr>
          </a:p>
          <a:p>
            <a:pPr indent="0" lvl="0" marL="0" rtl="0" algn="l">
              <a:spcBef>
                <a:spcPts val="1200"/>
              </a:spcBef>
              <a:spcAft>
                <a:spcPts val="0"/>
              </a:spcAft>
              <a:buNone/>
            </a:pPr>
            <a:r>
              <a:rPr b="1" lang="en-GB" sz="2282">
                <a:solidFill>
                  <a:schemeClr val="dk1"/>
                </a:solidFill>
              </a:rPr>
              <a:t>Support for Regional Sign </a:t>
            </a:r>
            <a:r>
              <a:rPr b="1" lang="en-GB" sz="2282">
                <a:solidFill>
                  <a:schemeClr val="dk1"/>
                </a:solidFill>
              </a:rPr>
              <a:t>variations</a:t>
            </a:r>
            <a:r>
              <a:rPr b="1" lang="en-GB" sz="2282">
                <a:solidFill>
                  <a:schemeClr val="dk1"/>
                </a:solidFill>
              </a:rPr>
              <a:t>:</a:t>
            </a:r>
            <a:r>
              <a:rPr lang="en-GB" sz="2282">
                <a:solidFill>
                  <a:schemeClr val="dk1"/>
                </a:solidFill>
              </a:rPr>
              <a:t> Extend the system to accommodate dialects within Indian Sign Language (ISL) and possibly integrate cross-lingual mapping to American Sign Language (ASL) or British Sign Language (BSL).</a:t>
            </a:r>
            <a:endParaRPr sz="2282">
              <a:solidFill>
                <a:schemeClr val="dk1"/>
              </a:solidFill>
            </a:endParaRPr>
          </a:p>
          <a:p>
            <a:pPr indent="0" lvl="0" marL="0" rtl="0" algn="l">
              <a:spcBef>
                <a:spcPts val="1200"/>
              </a:spcBef>
              <a:spcAft>
                <a:spcPts val="0"/>
              </a:spcAft>
              <a:buNone/>
            </a:pPr>
            <a:r>
              <a:rPr b="1" lang="en-GB" sz="2282">
                <a:solidFill>
                  <a:schemeClr val="dk1"/>
                </a:solidFill>
              </a:rPr>
              <a:t>Bidirectional Communication:</a:t>
            </a:r>
            <a:r>
              <a:rPr lang="en-GB" sz="2282">
                <a:solidFill>
                  <a:schemeClr val="dk1"/>
                </a:solidFill>
              </a:rPr>
              <a:t> Develop the reverse pipeline — converting spoken or text language back into animated ISL gestures — enabling two-way communication between hearing and deaf users.</a:t>
            </a:r>
            <a:endParaRPr sz="2282">
              <a:solidFill>
                <a:schemeClr val="dk1"/>
              </a:solidFill>
            </a:endParaRPr>
          </a:p>
          <a:p>
            <a:pPr indent="0" lvl="0" marL="0" rtl="0" algn="l">
              <a:spcBef>
                <a:spcPts val="1200"/>
              </a:spcBef>
              <a:spcAft>
                <a:spcPts val="0"/>
              </a:spcAft>
              <a:buNone/>
            </a:pPr>
            <a:r>
              <a:rPr b="1" lang="en-GB" sz="2282">
                <a:solidFill>
                  <a:schemeClr val="dk1"/>
                </a:solidFill>
              </a:rPr>
              <a:t>Cloud-Based API Services: </a:t>
            </a:r>
            <a:r>
              <a:rPr lang="en-GB" sz="2282">
                <a:solidFill>
                  <a:schemeClr val="dk1"/>
                </a:solidFill>
              </a:rPr>
              <a:t>Offer the ISL translation pipeline as a cloud API for developers, enabling integration with government portals, assistive apps, and smart city systems.</a:t>
            </a:r>
            <a:endParaRPr sz="2282">
              <a:solidFill>
                <a:schemeClr val="dk1"/>
              </a:solidFill>
            </a:endParaRPr>
          </a:p>
          <a:p>
            <a:pPr indent="0" lvl="0" marL="0" rtl="0" algn="l">
              <a:spcBef>
                <a:spcPts val="1200"/>
              </a:spcBef>
              <a:spcAft>
                <a:spcPts val="0"/>
              </a:spcAft>
              <a:buNone/>
            </a:pPr>
            <a:r>
              <a:rPr b="1" lang="en-GB" sz="2282">
                <a:solidFill>
                  <a:schemeClr val="dk1"/>
                </a:solidFill>
              </a:rPr>
              <a:t>Creation of Large-Scale ISL Datasets:</a:t>
            </a:r>
            <a:r>
              <a:rPr lang="en-GB" sz="2282">
                <a:solidFill>
                  <a:schemeClr val="dk1"/>
                </a:solidFill>
              </a:rPr>
              <a:t> Develop an open-source, annotated dataset of Indian Sign Language videos to accelerate future research and standardization.</a:t>
            </a:r>
            <a:endParaRPr sz="2282">
              <a:solidFill>
                <a:schemeClr val="dk1"/>
              </a:solidFill>
            </a:endParaRPr>
          </a:p>
          <a:p>
            <a:pPr indent="0" lvl="0" marL="0" rtl="0" algn="l">
              <a:spcBef>
                <a:spcPts val="1200"/>
              </a:spcBef>
              <a:spcAft>
                <a:spcPts val="0"/>
              </a:spcAft>
              <a:buNone/>
            </a:pPr>
            <a:r>
              <a:rPr b="1" lang="en-GB" sz="2282">
                <a:solidFill>
                  <a:schemeClr val="dk1"/>
                </a:solidFill>
              </a:rPr>
              <a:t>National Accessibility Policy Integration:</a:t>
            </a:r>
            <a:r>
              <a:rPr lang="en-GB" sz="2282">
                <a:solidFill>
                  <a:schemeClr val="dk1"/>
                </a:solidFill>
              </a:rPr>
              <a:t> Contribute the technology to government-driven initiatives under Accessible India Campaign (Sugamya Bharat Abhiyan) for nationwide adoption.</a:t>
            </a:r>
            <a:endParaRPr sz="2282">
              <a:solidFill>
                <a:schemeClr val="dk1"/>
              </a:solidFill>
            </a:endParaRPr>
          </a:p>
          <a:p>
            <a:pPr indent="0" lvl="0" marL="0" rtl="0" algn="l">
              <a:spcBef>
                <a:spcPts val="1200"/>
              </a:spcBef>
              <a:spcAft>
                <a:spcPts val="1200"/>
              </a:spcAft>
              <a:buNone/>
            </a:pPr>
            <a:r>
              <a:t/>
            </a:r>
            <a:endParaRPr sz="1100">
              <a:solidFill>
                <a:schemeClr val="dk1"/>
              </a:solidFill>
            </a:endParaRPr>
          </a:p>
        </p:txBody>
      </p:sp>
      <p:sp>
        <p:nvSpPr>
          <p:cNvPr id="178" name="Google Shape;178;p33"/>
          <p:cNvSpPr txBox="1"/>
          <p:nvPr>
            <p:ph type="title"/>
          </p:nvPr>
        </p:nvSpPr>
        <p:spPr>
          <a:xfrm>
            <a:off x="311700" y="214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Future prospects</a:t>
            </a:r>
            <a:endParaRPr/>
          </a:p>
        </p:txBody>
      </p:sp>
      <p:pic>
        <p:nvPicPr>
          <p:cNvPr id="179" name="Google Shape;179;p33"/>
          <p:cNvPicPr preferRelativeResize="0"/>
          <p:nvPr/>
        </p:nvPicPr>
        <p:blipFill>
          <a:blip r:embed="rId3">
            <a:alphaModFix/>
          </a:blip>
          <a:stretch>
            <a:fillRect/>
          </a:stretch>
        </p:blipFill>
        <p:spPr>
          <a:xfrm>
            <a:off x="6197450" y="214100"/>
            <a:ext cx="2795650" cy="803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References:</a:t>
            </a:r>
            <a:endParaRPr/>
          </a:p>
        </p:txBody>
      </p:sp>
      <p:sp>
        <p:nvSpPr>
          <p:cNvPr id="185" name="Google Shape;1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A. Vaswani et al., “Attention Is All You Need,” Advances in Neural Information Processing Systems (NeurIPS), 2017.</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D. Bahdanau, K. Cho, and Y. Bengio, “Neural Machine Translation by Jointly Learning to Align and Translate,” International Conference on Learning Representations (ICLR), 2015.</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J. Pu, W. Zhou, and H. Li, “Sign Language Recognition with Multi-Modal Deep Learning,” ACM Transactions on Multimedia Computing, Communications, and Applications, 2019.</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X. Huang et al., “Continuous Chinese Sign Language Recognition Using Neural Networks,” IEEE Transactions on Multimedia, 2022.</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Google AI Research, “Sign Language Transformer,” Google Research Blog, 2021.</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Kumar et al., “ISIGN: A Large-Scale Dataset for Continuous Indian Sign Language Recognition,” IIIT Hyderabad, 2024.</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Jha, R. Raut et al., “Benchmarking Indian Sign Language Datasets for Deep Learning,” IEEE International Conference on Computer Vision Systems (ICVS), 2023.</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F. Zhang et al., “MediaPipe Hands: On-Device Real-Time Hand Tracking,” CVPR Workshops, 2020.</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Google Research, “MediaPipe Holistic: Real-Time Face, Hands, and Body Pose Estimation,” 2023. (Official Documentation)</a:t>
            </a:r>
            <a:endParaRPr sz="1155">
              <a:solidFill>
                <a:schemeClr val="dk1"/>
              </a:solidFill>
            </a:endParaRPr>
          </a:p>
          <a:p>
            <a:pPr indent="-301942" lvl="0" marL="457200" rtl="0" algn="l">
              <a:lnSpc>
                <a:spcPct val="95000"/>
              </a:lnSpc>
              <a:spcBef>
                <a:spcPts val="0"/>
              </a:spcBef>
              <a:spcAft>
                <a:spcPts val="0"/>
              </a:spcAft>
              <a:buClr>
                <a:schemeClr val="dk1"/>
              </a:buClr>
              <a:buSzPts val="1155"/>
              <a:buAutoNum type="arabicPeriod"/>
            </a:pPr>
            <a:r>
              <a:rPr lang="en-GB" sz="1155">
                <a:solidFill>
                  <a:schemeClr val="dk1"/>
                </a:solidFill>
              </a:rPr>
              <a:t>TensorFlow Developers, “TensorFlow 2.0: Machine Learning Framework,” TensorFlow Documentation, 2024.</a:t>
            </a:r>
            <a:endParaRPr sz="1155">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1" name="Google Shape;191;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2" name="Google Shape;192;p35"/>
          <p:cNvPicPr preferRelativeResize="0"/>
          <p:nvPr/>
        </p:nvPicPr>
        <p:blipFill>
          <a:blip r:embed="rId3">
            <a:alphaModFix/>
          </a:blip>
          <a:stretch>
            <a:fillRect/>
          </a:stretch>
        </p:blipFill>
        <p:spPr>
          <a:xfrm>
            <a:off x="7163" y="0"/>
            <a:ext cx="9129713"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